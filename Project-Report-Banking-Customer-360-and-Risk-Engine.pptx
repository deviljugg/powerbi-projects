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704" r:id="rId1"/>
  </p:sldMasterIdLst>
  <p:notesMasterIdLst>
    <p:notesMasterId r:id="rId10"/>
  </p:notesMasterIdLst>
  <p:sldIdLst>
    <p:sldId id="257" r:id="rId2"/>
    <p:sldId id="258" r:id="rId3"/>
    <p:sldId id="259" r:id="rId4"/>
    <p:sldId id="260" r:id="rId5"/>
    <p:sldId id="261" r:id="rId6"/>
    <p:sldId id="262" r:id="rId7"/>
    <p:sldId id="263" r:id="rId8"/>
    <p:sldId id="264" r:id="rId9"/>
  </p:sldIdLst>
  <p:sldSz cx="14630400" cy="8229600"/>
  <p:notesSz cx="8229600" cy="14630400"/>
  <p:embeddedFontLst>
    <p:embeddedFont>
      <p:font typeface="Alexandria Medium" panose="020B0604020202020204" charset="-78"/>
      <p:regular r:id="rId11"/>
    </p:embeddedFont>
    <p:embeddedFont>
      <p:font typeface="Consolas" panose="020B0609020204030204" pitchFamily="49" charset="0"/>
      <p:regular r:id="rId12"/>
      <p:bold r:id="rId13"/>
      <p:italic r:id="rId14"/>
      <p:boldItalic r:id="rId15"/>
    </p:embeddedFont>
    <p:embeddedFont>
      <p:font typeface="Manrope" panose="020B0604020202020204" charset="0"/>
      <p:regular r:id="rId16"/>
    </p:embeddedFont>
    <p:embeddedFont>
      <p:font typeface="Tw Cen MT" panose="020B0602020104020603" pitchFamily="34" charset="0"/>
      <p:regular r:id="rId17"/>
      <p:bold r:id="rId18"/>
      <p:italic r:id="rId19"/>
      <p:boldItalic r:id="rId2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theme" Target="theme/theme1.xml"/><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3252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2" name="Title 1"/>
          <p:cNvSpPr>
            <a:spLocks noGrp="1"/>
          </p:cNvSpPr>
          <p:nvPr>
            <p:ph type="ctrTitle"/>
          </p:nvPr>
        </p:nvSpPr>
        <p:spPr>
          <a:xfrm>
            <a:off x="2101215" y="1560942"/>
            <a:ext cx="10427971" cy="3011056"/>
          </a:xfrm>
        </p:spPr>
        <p:txBody>
          <a:bodyPr anchor="b">
            <a:normAutofit/>
          </a:bodyPr>
          <a:lstStyle>
            <a:lvl1pPr algn="ctr">
              <a:defRPr sz="5760"/>
            </a:lvl1pPr>
          </a:lstStyle>
          <a:p>
            <a:r>
              <a:rPr lang="en-US"/>
              <a:t>Click to edit Master title style</a:t>
            </a:r>
            <a:endParaRPr lang="en-US" dirty="0"/>
          </a:p>
        </p:txBody>
      </p:sp>
      <p:sp>
        <p:nvSpPr>
          <p:cNvPr id="3" name="Subtitle 2"/>
          <p:cNvSpPr>
            <a:spLocks noGrp="1"/>
          </p:cNvSpPr>
          <p:nvPr>
            <p:ph type="subTitle" idx="1"/>
          </p:nvPr>
        </p:nvSpPr>
        <p:spPr>
          <a:xfrm>
            <a:off x="2101215" y="4663441"/>
            <a:ext cx="10427971" cy="1645919"/>
          </a:xfrm>
        </p:spPr>
        <p:txBody>
          <a:bodyPr>
            <a:normAutofit/>
          </a:bodyPr>
          <a:lstStyle>
            <a:lvl1pPr marL="0" indent="0" algn="ctr">
              <a:buNone/>
              <a:defRPr sz="2640">
                <a:solidFill>
                  <a:schemeClr val="bg1">
                    <a:lumMod val="50000"/>
                  </a:schemeClr>
                </a:solidFill>
              </a:defRPr>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2340462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1096529" y="2840511"/>
            <a:ext cx="12436591" cy="4108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6188979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2" name="Title 1"/>
          <p:cNvSpPr>
            <a:spLocks noGrp="1"/>
          </p:cNvSpPr>
          <p:nvPr>
            <p:ph type="title"/>
          </p:nvPr>
        </p:nvSpPr>
        <p:spPr>
          <a:xfrm>
            <a:off x="1096529" y="994276"/>
            <a:ext cx="12422102" cy="3284183"/>
          </a:xfrm>
        </p:spPr>
        <p:txBody>
          <a:bodyPr anchor="b">
            <a:normAutofit/>
          </a:bodyPr>
          <a:lstStyle>
            <a:lvl1pPr>
              <a:defRPr sz="4800"/>
            </a:lvl1pPr>
          </a:lstStyle>
          <a:p>
            <a:r>
              <a:rPr lang="en-US"/>
              <a:t>Click to edit Master title style</a:t>
            </a:r>
            <a:endParaRPr lang="en-US" dirty="0"/>
          </a:p>
        </p:txBody>
      </p:sp>
      <p:sp>
        <p:nvSpPr>
          <p:cNvPr id="3" name="Text Placeholder 2"/>
          <p:cNvSpPr>
            <a:spLocks noGrp="1"/>
          </p:cNvSpPr>
          <p:nvPr>
            <p:ph type="body" idx="1"/>
          </p:nvPr>
        </p:nvSpPr>
        <p:spPr>
          <a:xfrm>
            <a:off x="1096529" y="4388949"/>
            <a:ext cx="12422102" cy="1641820"/>
          </a:xfrm>
        </p:spPr>
        <p:txBody>
          <a:bodyPr>
            <a:normAutofit/>
          </a:bodyPr>
          <a:lstStyle>
            <a:lvl1pPr marL="0" indent="0" algn="ctr">
              <a:buNone/>
              <a:defRPr sz="2400">
                <a:solidFill>
                  <a:schemeClr val="bg1">
                    <a:lumMod val="50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6738790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14" name="Title 1"/>
          <p:cNvSpPr>
            <a:spLocks noGrp="1"/>
          </p:cNvSpPr>
          <p:nvPr>
            <p:ph type="title"/>
          </p:nvPr>
        </p:nvSpPr>
        <p:spPr>
          <a:xfrm>
            <a:off x="1096531" y="742221"/>
            <a:ext cx="12437341" cy="1915412"/>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1096529" y="2840511"/>
            <a:ext cx="6127231" cy="4108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7406640" y="2840511"/>
            <a:ext cx="6126480" cy="4108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7334805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14" name="Title 1"/>
          <p:cNvSpPr>
            <a:spLocks noGrp="1"/>
          </p:cNvSpPr>
          <p:nvPr>
            <p:ph type="title"/>
          </p:nvPr>
        </p:nvSpPr>
        <p:spPr>
          <a:xfrm>
            <a:off x="1096531" y="742221"/>
            <a:ext cx="12437341" cy="1915412"/>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5594" y="2845222"/>
            <a:ext cx="5848169" cy="815993"/>
          </a:xfrm>
        </p:spPr>
        <p:txBody>
          <a:bodyPr anchor="b">
            <a:noAutofit/>
          </a:bodyPr>
          <a:lstStyle>
            <a:lvl1pPr marL="0" indent="0">
              <a:lnSpc>
                <a:spcPct val="85000"/>
              </a:lnSpc>
              <a:buNone/>
              <a:defRPr sz="312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12" name="Content Placeholder 3"/>
          <p:cNvSpPr>
            <a:spLocks noGrp="1"/>
          </p:cNvSpPr>
          <p:nvPr>
            <p:ph sz="quarter" idx="13"/>
          </p:nvPr>
        </p:nvSpPr>
        <p:spPr>
          <a:xfrm>
            <a:off x="1096530" y="3661215"/>
            <a:ext cx="6127232" cy="3288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675708" y="2845222"/>
            <a:ext cx="5858165" cy="815993"/>
          </a:xfrm>
        </p:spPr>
        <p:txBody>
          <a:bodyPr anchor="b">
            <a:noAutofit/>
          </a:bodyPr>
          <a:lstStyle>
            <a:lvl1pPr marL="0" indent="0">
              <a:lnSpc>
                <a:spcPct val="85000"/>
              </a:lnSpc>
              <a:buNone/>
              <a:defRPr sz="312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13" name="Content Placeholder 5"/>
          <p:cNvSpPr>
            <a:spLocks noGrp="1"/>
          </p:cNvSpPr>
          <p:nvPr>
            <p:ph sz="quarter" idx="14"/>
          </p:nvPr>
        </p:nvSpPr>
        <p:spPr>
          <a:xfrm>
            <a:off x="7406641" y="3661215"/>
            <a:ext cx="6126481" cy="3288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11/24/2025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7864814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11/24/2025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3839239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smtClean="0"/>
              <a:pPr/>
              <a:t>11/24/2025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96426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2" name="Title 1"/>
          <p:cNvSpPr>
            <a:spLocks noGrp="1"/>
          </p:cNvSpPr>
          <p:nvPr>
            <p:ph type="title"/>
          </p:nvPr>
        </p:nvSpPr>
        <p:spPr>
          <a:xfrm>
            <a:off x="1096530" y="731520"/>
            <a:ext cx="4722826" cy="2427902"/>
          </a:xfrm>
        </p:spPr>
        <p:txBody>
          <a:bodyPr anchor="b"/>
          <a:lstStyle>
            <a:lvl1pPr algn="ctr">
              <a:defRPr sz="3840"/>
            </a:lvl1pPr>
          </a:lstStyle>
          <a:p>
            <a:r>
              <a:rPr lang="en-US"/>
              <a:t>Click to edit Master title style</a:t>
            </a:r>
            <a:endParaRPr lang="en-US" dirty="0"/>
          </a:p>
        </p:txBody>
      </p:sp>
      <p:sp>
        <p:nvSpPr>
          <p:cNvPr id="10" name="Content Placeholder 2"/>
          <p:cNvSpPr>
            <a:spLocks noGrp="1"/>
          </p:cNvSpPr>
          <p:nvPr>
            <p:ph sz="quarter" idx="13"/>
          </p:nvPr>
        </p:nvSpPr>
        <p:spPr>
          <a:xfrm>
            <a:off x="6093675" y="731521"/>
            <a:ext cx="7440196" cy="62179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96529" y="3159422"/>
            <a:ext cx="4722827" cy="3790018"/>
          </a:xfrm>
        </p:spPr>
        <p:txBody>
          <a:bodyPr/>
          <a:lstStyle>
            <a:lvl1pPr marL="0" indent="0" algn="ctr">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3231360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2" name="Title 1"/>
          <p:cNvSpPr>
            <a:spLocks noGrp="1"/>
          </p:cNvSpPr>
          <p:nvPr>
            <p:ph type="title"/>
          </p:nvPr>
        </p:nvSpPr>
        <p:spPr>
          <a:xfrm>
            <a:off x="1096529" y="731520"/>
            <a:ext cx="7121963" cy="2427905"/>
          </a:xfrm>
        </p:spPr>
        <p:txBody>
          <a:bodyPr anchor="b"/>
          <a:lstStyle>
            <a:lvl1pPr algn="ctr">
              <a:defRPr sz="3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8909763" y="731521"/>
            <a:ext cx="3906430" cy="621792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096553" y="3159423"/>
            <a:ext cx="7121939" cy="3790016"/>
          </a:xfrm>
        </p:spPr>
        <p:txBody>
          <a:bodyPr/>
          <a:lstStyle>
            <a:lvl1pPr marL="0" indent="0" algn="ctr">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1573343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2" name="Title 1"/>
          <p:cNvSpPr>
            <a:spLocks noGrp="1"/>
          </p:cNvSpPr>
          <p:nvPr>
            <p:ph type="title"/>
          </p:nvPr>
        </p:nvSpPr>
        <p:spPr>
          <a:xfrm>
            <a:off x="1096553" y="5147249"/>
            <a:ext cx="12437318" cy="973932"/>
          </a:xfrm>
        </p:spPr>
        <p:txBody>
          <a:bodyPr anchor="b"/>
          <a:lstStyle>
            <a:lvl1pPr>
              <a:defRPr sz="3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1421693" y="837913"/>
            <a:ext cx="11787038" cy="3856963"/>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096529" y="6130474"/>
            <a:ext cx="12437342" cy="818966"/>
          </a:xfrm>
        </p:spPr>
        <p:txBody>
          <a:bodyPr/>
          <a:lstStyle>
            <a:lvl1pPr marL="0" indent="0" algn="ctr">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1350661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2" name="Title 1"/>
          <p:cNvSpPr>
            <a:spLocks noGrp="1"/>
          </p:cNvSpPr>
          <p:nvPr>
            <p:ph type="title"/>
          </p:nvPr>
        </p:nvSpPr>
        <p:spPr>
          <a:xfrm>
            <a:off x="1096529" y="731519"/>
            <a:ext cx="12437342" cy="4112694"/>
          </a:xfrm>
        </p:spPr>
        <p:txBody>
          <a:bodyPr anchor="ctr"/>
          <a:lstStyle>
            <a:lvl1pPr algn="ctr">
              <a:defRPr sz="3840"/>
            </a:lvl1pPr>
          </a:lstStyle>
          <a:p>
            <a:r>
              <a:rPr lang="en-US"/>
              <a:t>Click to edit Master title style</a:t>
            </a:r>
            <a:endParaRPr lang="en-US" dirty="0"/>
          </a:p>
        </p:txBody>
      </p:sp>
      <p:sp>
        <p:nvSpPr>
          <p:cNvPr id="4" name="Text Placeholder 3"/>
          <p:cNvSpPr>
            <a:spLocks noGrp="1"/>
          </p:cNvSpPr>
          <p:nvPr>
            <p:ph type="body" sz="half" idx="2"/>
          </p:nvPr>
        </p:nvSpPr>
        <p:spPr>
          <a:xfrm>
            <a:off x="1096530" y="5045785"/>
            <a:ext cx="12437342" cy="1903656"/>
          </a:xfrm>
        </p:spPr>
        <p:txBody>
          <a:bodyPr anchor="ctr"/>
          <a:lstStyle>
            <a:lvl1pPr marL="0" indent="0" algn="ctr">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9455801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2" name="Title 1"/>
          <p:cNvSpPr>
            <a:spLocks noGrp="1"/>
          </p:cNvSpPr>
          <p:nvPr>
            <p:ph type="title"/>
          </p:nvPr>
        </p:nvSpPr>
        <p:spPr>
          <a:xfrm>
            <a:off x="1735455" y="731520"/>
            <a:ext cx="11163302" cy="3591485"/>
          </a:xfrm>
        </p:spPr>
        <p:txBody>
          <a:bodyPr anchor="ctr"/>
          <a:lstStyle>
            <a:lvl1pPr>
              <a:defRPr sz="3840"/>
            </a:lvl1pPr>
          </a:lstStyle>
          <a:p>
            <a:r>
              <a:rPr lang="en-US"/>
              <a:t>Click to edit Master title style</a:t>
            </a:r>
            <a:endParaRPr lang="en-US" dirty="0"/>
          </a:p>
        </p:txBody>
      </p:sp>
      <p:sp>
        <p:nvSpPr>
          <p:cNvPr id="12" name="Text Placeholder 3"/>
          <p:cNvSpPr>
            <a:spLocks noGrp="1"/>
          </p:cNvSpPr>
          <p:nvPr>
            <p:ph type="body" sz="half" idx="13"/>
          </p:nvPr>
        </p:nvSpPr>
        <p:spPr>
          <a:xfrm>
            <a:off x="2064773" y="4332038"/>
            <a:ext cx="10502759" cy="713746"/>
          </a:xfrm>
        </p:spPr>
        <p:txBody>
          <a:bodyPr anchor="t">
            <a:normAutofit/>
          </a:bodyPr>
          <a:lstStyle>
            <a:lvl1pPr marL="0" indent="0">
              <a:buNone/>
              <a:defRPr sz="168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4" name="Text Placeholder 3"/>
          <p:cNvSpPr>
            <a:spLocks noGrp="1"/>
          </p:cNvSpPr>
          <p:nvPr>
            <p:ph type="body" sz="half" idx="2"/>
          </p:nvPr>
        </p:nvSpPr>
        <p:spPr>
          <a:xfrm>
            <a:off x="1096529" y="5247356"/>
            <a:ext cx="12437342" cy="1705264"/>
          </a:xfrm>
        </p:spPr>
        <p:txBody>
          <a:bodyPr anchor="ctr">
            <a:normAutofit/>
          </a:bodyPr>
          <a:lstStyle>
            <a:lvl1pPr marL="0" indent="0" algn="ctr">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13" name="TextBox 12"/>
          <p:cNvSpPr txBox="1"/>
          <p:nvPr/>
        </p:nvSpPr>
        <p:spPr>
          <a:xfrm>
            <a:off x="1201786" y="904999"/>
            <a:ext cx="731520" cy="701731"/>
          </a:xfrm>
          <a:prstGeom prst="rect">
            <a:avLst/>
          </a:prstGeom>
        </p:spPr>
        <p:txBody>
          <a:bodyPr vert="horz" lIns="109728" tIns="54864" rIns="109728" bIns="5486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9600" dirty="0">
                <a:solidFill>
                  <a:schemeClr val="tx1"/>
                </a:solidFill>
                <a:effectLst/>
              </a:rPr>
              <a:t>“</a:t>
            </a:r>
          </a:p>
        </p:txBody>
      </p:sp>
      <p:sp>
        <p:nvSpPr>
          <p:cNvPr id="14" name="TextBox 13"/>
          <p:cNvSpPr txBox="1"/>
          <p:nvPr/>
        </p:nvSpPr>
        <p:spPr>
          <a:xfrm>
            <a:off x="12669070" y="3592294"/>
            <a:ext cx="731520" cy="701731"/>
          </a:xfrm>
          <a:prstGeom prst="rect">
            <a:avLst/>
          </a:prstGeom>
        </p:spPr>
        <p:txBody>
          <a:bodyPr vert="horz" lIns="109728" tIns="54864" rIns="109728" bIns="5486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9600" dirty="0">
                <a:solidFill>
                  <a:schemeClr val="tx1"/>
                </a:solidFill>
                <a:effectLst/>
              </a:rPr>
              <a:t>”</a:t>
            </a:r>
          </a:p>
        </p:txBody>
      </p:sp>
    </p:spTree>
    <p:extLst>
      <p:ext uri="{BB962C8B-B14F-4D97-AF65-F5344CB8AC3E}">
        <p14:creationId xmlns:p14="http://schemas.microsoft.com/office/powerpoint/2010/main" val="140703530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2" name="Title 1"/>
          <p:cNvSpPr>
            <a:spLocks noGrp="1"/>
          </p:cNvSpPr>
          <p:nvPr>
            <p:ph type="title"/>
          </p:nvPr>
        </p:nvSpPr>
        <p:spPr>
          <a:xfrm>
            <a:off x="1096530" y="2566466"/>
            <a:ext cx="12437342" cy="3014202"/>
          </a:xfrm>
        </p:spPr>
        <p:txBody>
          <a:bodyPr anchor="b"/>
          <a:lstStyle>
            <a:lvl1pPr algn="ctr">
              <a:defRPr sz="3840"/>
            </a:lvl1pPr>
          </a:lstStyle>
          <a:p>
            <a:r>
              <a:rPr lang="en-US"/>
              <a:t>Click to edit Master title style</a:t>
            </a:r>
            <a:endParaRPr lang="en-US" dirty="0"/>
          </a:p>
        </p:txBody>
      </p:sp>
      <p:sp>
        <p:nvSpPr>
          <p:cNvPr id="4" name="Text Placeholder 3"/>
          <p:cNvSpPr>
            <a:spLocks noGrp="1"/>
          </p:cNvSpPr>
          <p:nvPr>
            <p:ph type="body" sz="half" idx="2"/>
          </p:nvPr>
        </p:nvSpPr>
        <p:spPr>
          <a:xfrm>
            <a:off x="1096530" y="5594802"/>
            <a:ext cx="12437342" cy="1368773"/>
          </a:xfrm>
        </p:spPr>
        <p:txBody>
          <a:bodyPr anchor="t"/>
          <a:lstStyle>
            <a:lvl1pPr marL="0" indent="0" algn="ctr">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8518383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15" name="Title 1"/>
          <p:cNvSpPr>
            <a:spLocks noGrp="1"/>
          </p:cNvSpPr>
          <p:nvPr>
            <p:ph type="title"/>
          </p:nvPr>
        </p:nvSpPr>
        <p:spPr>
          <a:xfrm>
            <a:off x="1096529" y="731520"/>
            <a:ext cx="12437342" cy="192611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096529" y="2840512"/>
            <a:ext cx="3958771" cy="691514"/>
          </a:xfrm>
        </p:spPr>
        <p:txBody>
          <a:bodyPr anchor="b">
            <a:noAutofit/>
          </a:bodyPr>
          <a:lstStyle>
            <a:lvl1pPr marL="0" indent="0" algn="ctr">
              <a:lnSpc>
                <a:spcPct val="85000"/>
              </a:lnSpc>
              <a:buNone/>
              <a:defRPr sz="288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8" name="Text Placeholder 3"/>
          <p:cNvSpPr>
            <a:spLocks noGrp="1"/>
          </p:cNvSpPr>
          <p:nvPr>
            <p:ph type="body" sz="half" idx="15"/>
          </p:nvPr>
        </p:nvSpPr>
        <p:spPr>
          <a:xfrm>
            <a:off x="1096529" y="3532027"/>
            <a:ext cx="3958771" cy="3417414"/>
          </a:xfrm>
        </p:spPr>
        <p:txBody>
          <a:bodyPr anchor="t">
            <a:normAutofit/>
          </a:bodyPr>
          <a:lstStyle>
            <a:lvl1pPr marL="0" indent="0" algn="ctr">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9" name="Text Placeholder 4"/>
          <p:cNvSpPr>
            <a:spLocks noGrp="1"/>
          </p:cNvSpPr>
          <p:nvPr>
            <p:ph type="body" sz="quarter" idx="3"/>
          </p:nvPr>
        </p:nvSpPr>
        <p:spPr>
          <a:xfrm>
            <a:off x="5342868" y="2840512"/>
            <a:ext cx="3949825" cy="691514"/>
          </a:xfrm>
        </p:spPr>
        <p:txBody>
          <a:bodyPr anchor="b">
            <a:noAutofit/>
          </a:bodyPr>
          <a:lstStyle>
            <a:lvl1pPr marL="0" indent="0" algn="ctr">
              <a:lnSpc>
                <a:spcPct val="85000"/>
              </a:lnSpc>
              <a:buNone/>
              <a:defRPr sz="288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10" name="Text Placeholder 3"/>
          <p:cNvSpPr>
            <a:spLocks noGrp="1"/>
          </p:cNvSpPr>
          <p:nvPr>
            <p:ph type="body" sz="half" idx="16"/>
          </p:nvPr>
        </p:nvSpPr>
        <p:spPr>
          <a:xfrm>
            <a:off x="5329618" y="3532027"/>
            <a:ext cx="3964021" cy="3417414"/>
          </a:xfrm>
        </p:spPr>
        <p:txBody>
          <a:bodyPr anchor="t">
            <a:normAutofit/>
          </a:bodyPr>
          <a:lstStyle>
            <a:lvl1pPr marL="0" indent="0" algn="ctr">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11" name="Text Placeholder 4"/>
          <p:cNvSpPr>
            <a:spLocks noGrp="1"/>
          </p:cNvSpPr>
          <p:nvPr>
            <p:ph type="body" sz="quarter" idx="13"/>
          </p:nvPr>
        </p:nvSpPr>
        <p:spPr>
          <a:xfrm>
            <a:off x="9567957" y="2840512"/>
            <a:ext cx="3965914" cy="691514"/>
          </a:xfrm>
        </p:spPr>
        <p:txBody>
          <a:bodyPr anchor="b">
            <a:noAutofit/>
          </a:bodyPr>
          <a:lstStyle>
            <a:lvl1pPr marL="0" indent="0" algn="ctr">
              <a:lnSpc>
                <a:spcPct val="85000"/>
              </a:lnSpc>
              <a:buNone/>
              <a:defRPr sz="288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12" name="Text Placeholder 3"/>
          <p:cNvSpPr>
            <a:spLocks noGrp="1"/>
          </p:cNvSpPr>
          <p:nvPr>
            <p:ph type="body" sz="half" idx="17"/>
          </p:nvPr>
        </p:nvSpPr>
        <p:spPr>
          <a:xfrm>
            <a:off x="9567957" y="3532027"/>
            <a:ext cx="3965914" cy="3417414"/>
          </a:xfrm>
        </p:spPr>
        <p:txBody>
          <a:bodyPr anchor="t">
            <a:normAutofit/>
          </a:bodyPr>
          <a:lstStyle>
            <a:lvl1pPr marL="0" indent="0" algn="ctr">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11/24/2025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7914741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30" name="Title 1"/>
          <p:cNvSpPr>
            <a:spLocks noGrp="1"/>
          </p:cNvSpPr>
          <p:nvPr>
            <p:ph type="title"/>
          </p:nvPr>
        </p:nvSpPr>
        <p:spPr>
          <a:xfrm>
            <a:off x="1096529" y="732927"/>
            <a:ext cx="12437342" cy="1924706"/>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096529" y="5045784"/>
            <a:ext cx="3955691" cy="691514"/>
          </a:xfrm>
        </p:spPr>
        <p:txBody>
          <a:bodyPr anchor="b">
            <a:noAutofit/>
          </a:bodyPr>
          <a:lstStyle>
            <a:lvl1pPr marL="0" indent="0" algn="ctr">
              <a:lnSpc>
                <a:spcPct val="85000"/>
              </a:lnSpc>
              <a:buNone/>
              <a:defRPr sz="264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20" name="Picture Placeholder 2"/>
          <p:cNvSpPr>
            <a:spLocks noGrp="1" noChangeAspect="1"/>
          </p:cNvSpPr>
          <p:nvPr>
            <p:ph type="pic" idx="15"/>
          </p:nvPr>
        </p:nvSpPr>
        <p:spPr>
          <a:xfrm>
            <a:off x="1096529" y="2840512"/>
            <a:ext cx="3955691" cy="18288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21" name="Text Placeholder 3"/>
          <p:cNvSpPr>
            <a:spLocks noGrp="1"/>
          </p:cNvSpPr>
          <p:nvPr>
            <p:ph type="body" sz="half" idx="18"/>
          </p:nvPr>
        </p:nvSpPr>
        <p:spPr>
          <a:xfrm>
            <a:off x="1096529" y="5737298"/>
            <a:ext cx="3955691" cy="1212142"/>
          </a:xfrm>
        </p:spPr>
        <p:txBody>
          <a:bodyPr anchor="t">
            <a:normAutofit/>
          </a:bodyPr>
          <a:lstStyle>
            <a:lvl1pPr marL="0" indent="0" algn="ctr">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22" name="Text Placeholder 4"/>
          <p:cNvSpPr>
            <a:spLocks noGrp="1"/>
          </p:cNvSpPr>
          <p:nvPr>
            <p:ph type="body" sz="quarter" idx="3"/>
          </p:nvPr>
        </p:nvSpPr>
        <p:spPr>
          <a:xfrm>
            <a:off x="5331311" y="5045784"/>
            <a:ext cx="3962194" cy="691514"/>
          </a:xfrm>
        </p:spPr>
        <p:txBody>
          <a:bodyPr anchor="b">
            <a:noAutofit/>
          </a:bodyPr>
          <a:lstStyle>
            <a:lvl1pPr marL="0" indent="0" algn="ctr">
              <a:lnSpc>
                <a:spcPct val="85000"/>
              </a:lnSpc>
              <a:buNone/>
              <a:defRPr sz="264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23" name="Picture Placeholder 2"/>
          <p:cNvSpPr>
            <a:spLocks noGrp="1" noChangeAspect="1"/>
          </p:cNvSpPr>
          <p:nvPr>
            <p:ph type="pic" idx="21"/>
          </p:nvPr>
        </p:nvSpPr>
        <p:spPr>
          <a:xfrm>
            <a:off x="5329618" y="2840512"/>
            <a:ext cx="3964022" cy="18288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24" name="Text Placeholder 3"/>
          <p:cNvSpPr>
            <a:spLocks noGrp="1"/>
          </p:cNvSpPr>
          <p:nvPr>
            <p:ph type="body" sz="half" idx="19"/>
          </p:nvPr>
        </p:nvSpPr>
        <p:spPr>
          <a:xfrm>
            <a:off x="5329618" y="5737297"/>
            <a:ext cx="3964022" cy="1212143"/>
          </a:xfrm>
        </p:spPr>
        <p:txBody>
          <a:bodyPr anchor="t">
            <a:normAutofit/>
          </a:bodyPr>
          <a:lstStyle>
            <a:lvl1pPr marL="0" indent="0" algn="ctr">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25" name="Text Placeholder 4"/>
          <p:cNvSpPr>
            <a:spLocks noGrp="1"/>
          </p:cNvSpPr>
          <p:nvPr>
            <p:ph type="body" sz="quarter" idx="13"/>
          </p:nvPr>
        </p:nvSpPr>
        <p:spPr>
          <a:xfrm>
            <a:off x="9567958" y="5045784"/>
            <a:ext cx="3960817" cy="691514"/>
          </a:xfrm>
        </p:spPr>
        <p:txBody>
          <a:bodyPr anchor="b">
            <a:noAutofit/>
          </a:bodyPr>
          <a:lstStyle>
            <a:lvl1pPr marL="0" indent="0" algn="ctr">
              <a:lnSpc>
                <a:spcPct val="85000"/>
              </a:lnSpc>
              <a:buNone/>
              <a:defRPr sz="264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26" name="Picture Placeholder 2"/>
          <p:cNvSpPr>
            <a:spLocks noGrp="1" noChangeAspect="1"/>
          </p:cNvSpPr>
          <p:nvPr>
            <p:ph type="pic" idx="22"/>
          </p:nvPr>
        </p:nvSpPr>
        <p:spPr>
          <a:xfrm>
            <a:off x="9567957" y="2840512"/>
            <a:ext cx="3965914" cy="18288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27" name="Text Placeholder 3"/>
          <p:cNvSpPr>
            <a:spLocks noGrp="1"/>
          </p:cNvSpPr>
          <p:nvPr>
            <p:ph type="body" sz="half" idx="20"/>
          </p:nvPr>
        </p:nvSpPr>
        <p:spPr>
          <a:xfrm>
            <a:off x="9567808" y="5737294"/>
            <a:ext cx="3966064" cy="1212145"/>
          </a:xfrm>
        </p:spPr>
        <p:txBody>
          <a:bodyPr anchor="t">
            <a:normAutofit/>
          </a:bodyPr>
          <a:lstStyle>
            <a:lvl1pPr marL="0" indent="0" algn="ctr">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11/24/2025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4509418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1096530" y="2840512"/>
            <a:ext cx="12437342" cy="410892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41840702"/>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2" name="Vertical Title 1"/>
          <p:cNvSpPr>
            <a:spLocks noGrp="1"/>
          </p:cNvSpPr>
          <p:nvPr>
            <p:ph type="title" orient="vert"/>
          </p:nvPr>
        </p:nvSpPr>
        <p:spPr>
          <a:xfrm>
            <a:off x="10469880" y="731522"/>
            <a:ext cx="3063991" cy="621791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1096530" y="731522"/>
            <a:ext cx="9190469" cy="621791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79072754"/>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15374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99730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75923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00265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31185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36902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6529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7341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7">
            <a:alphaModFix/>
            <a:extLst>
              <a:ext uri="{28A0092B-C50C-407E-A947-70E740481C1C}">
                <a14:useLocalDpi xmlns:a14="http://schemas.microsoft.com/office/drawing/2010/main" val="0"/>
              </a:ext>
            </a:extLst>
          </a:blip>
          <a:srcRect/>
          <a:stretch>
            <a:fillRect/>
          </a:stretch>
        </p:blipFill>
        <p:spPr bwMode="auto">
          <a:xfrm>
            <a:off x="0" y="-1"/>
            <a:ext cx="14630404" cy="82296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1096531" y="742221"/>
            <a:ext cx="12437341" cy="191541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96530" y="2840512"/>
            <a:ext cx="12437342" cy="41089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214484" y="7059931"/>
            <a:ext cx="3291840" cy="438150"/>
          </a:xfrm>
          <a:prstGeom prst="rect">
            <a:avLst/>
          </a:prstGeom>
        </p:spPr>
        <p:txBody>
          <a:bodyPr vert="horz" lIns="91440" tIns="45720" rIns="91440" bIns="45720" rtlCol="0" anchor="ctr"/>
          <a:lstStyle>
            <a:lvl1pPr algn="r">
              <a:defRPr sz="1200">
                <a:solidFill>
                  <a:schemeClr val="tx1"/>
                </a:solidFill>
              </a:defRPr>
            </a:lvl1pPr>
          </a:lstStyle>
          <a:p>
            <a:fld id="{B61BEF0D-F0BB-DE4B-95CE-6DB70DBA9567}" type="datetimeFigureOut">
              <a:rPr lang="en-US" smtClean="0"/>
              <a:pPr/>
              <a:t>11/24/2025</a:t>
            </a:fld>
            <a:endParaRPr lang="en-US" dirty="0"/>
          </a:p>
        </p:txBody>
      </p:sp>
      <p:sp>
        <p:nvSpPr>
          <p:cNvPr id="5" name="Footer Placeholder 4"/>
          <p:cNvSpPr>
            <a:spLocks noGrp="1"/>
          </p:cNvSpPr>
          <p:nvPr>
            <p:ph type="ftr" sz="quarter" idx="3"/>
          </p:nvPr>
        </p:nvSpPr>
        <p:spPr>
          <a:xfrm>
            <a:off x="1096530" y="7059931"/>
            <a:ext cx="8007464" cy="438150"/>
          </a:xfrm>
          <a:prstGeom prst="rect">
            <a:avLst/>
          </a:prstGeom>
        </p:spPr>
        <p:txBody>
          <a:bodyPr vert="horz" lIns="91440" tIns="45720" rIns="91440" bIns="45720" rtlCol="0" anchor="ctr"/>
          <a:lstStyle>
            <a:lvl1pPr algn="l">
              <a:defRPr sz="1200">
                <a:solidFill>
                  <a:schemeClr val="tx1"/>
                </a:solidFill>
              </a:defRPr>
            </a:lvl1pPr>
          </a:lstStyle>
          <a:p>
            <a:endParaRPr lang="en-US" dirty="0"/>
          </a:p>
        </p:txBody>
      </p:sp>
      <p:sp>
        <p:nvSpPr>
          <p:cNvPr id="6" name="Slide Number Placeholder 5"/>
          <p:cNvSpPr>
            <a:spLocks noGrp="1"/>
          </p:cNvSpPr>
          <p:nvPr>
            <p:ph type="sldNum" sz="quarter" idx="4"/>
          </p:nvPr>
        </p:nvSpPr>
        <p:spPr>
          <a:xfrm>
            <a:off x="12616814" y="7059931"/>
            <a:ext cx="917058" cy="438150"/>
          </a:xfrm>
          <a:prstGeom prst="rect">
            <a:avLst/>
          </a:prstGeom>
        </p:spPr>
        <p:txBody>
          <a:bodyPr vert="horz" lIns="91440" tIns="45720" rIns="91440" bIns="45720" rtlCol="0" anchor="ctr"/>
          <a:lstStyle>
            <a:lvl1pPr algn="r">
              <a:defRPr sz="1200">
                <a:solidFill>
                  <a:schemeClr val="tx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67719831"/>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720" r:id="rId16"/>
    <p:sldLayoutId id="2147483721" r:id="rId17"/>
    <p:sldLayoutId id="2147483722" r:id="rId18"/>
    <p:sldLayoutId id="2147483723" r:id="rId19"/>
    <p:sldLayoutId id="2147483724" r:id="rId20"/>
    <p:sldLayoutId id="2147483725" r:id="rId21"/>
    <p:sldLayoutId id="2147483726" r:id="rId22"/>
    <p:sldLayoutId id="2147483727" r:id="rId23"/>
    <p:sldLayoutId id="2147483728" r:id="rId24"/>
    <p:sldLayoutId id="2147483729" r:id="rId25"/>
  </p:sldLayoutIdLst>
  <p:hf sldNum="0" hdr="0" ftr="0" dt="0"/>
  <p:txStyles>
    <p:titleStyle>
      <a:lvl1pPr algn="ctr" defTabSz="1097280" rtl="0" eaLnBrk="1" latinLnBrk="0" hangingPunct="1">
        <a:lnSpc>
          <a:spcPct val="90000"/>
        </a:lnSpc>
        <a:spcBef>
          <a:spcPct val="0"/>
        </a:spcBef>
        <a:buNone/>
        <a:defRPr sz="4320" kern="1200" cap="all" baseline="0">
          <a:solidFill>
            <a:schemeClr val="tx1"/>
          </a:solidFill>
          <a:effectLst/>
          <a:latin typeface="+mj-lt"/>
          <a:ea typeface="+mj-ea"/>
          <a:cs typeface="+mj-cs"/>
        </a:defRPr>
      </a:lvl1pPr>
    </p:titleStyle>
    <p:bodyStyle>
      <a:lvl1pPr marL="274320" indent="-274320" algn="l" defTabSz="1097280" rtl="0" eaLnBrk="1" latinLnBrk="0" hangingPunct="1">
        <a:lnSpc>
          <a:spcPct val="120000"/>
        </a:lnSpc>
        <a:spcBef>
          <a:spcPts val="1200"/>
        </a:spcBef>
        <a:buClr>
          <a:schemeClr val="tx1"/>
        </a:buClr>
        <a:buFont typeface="Arial" panose="020B0604020202020204" pitchFamily="34" charset="0"/>
        <a:buChar char="•"/>
        <a:defRPr sz="2400" kern="1200" cap="all" baseline="0">
          <a:solidFill>
            <a:schemeClr val="tx1"/>
          </a:solidFill>
          <a:effectLst/>
          <a:latin typeface="+mn-lt"/>
          <a:ea typeface="+mn-ea"/>
          <a:cs typeface="+mn-cs"/>
        </a:defRPr>
      </a:lvl1pPr>
      <a:lvl2pPr marL="822960" indent="-274320" algn="l" defTabSz="1097280" rtl="0" eaLnBrk="1" latinLnBrk="0" hangingPunct="1">
        <a:lnSpc>
          <a:spcPct val="120000"/>
        </a:lnSpc>
        <a:spcBef>
          <a:spcPts val="600"/>
        </a:spcBef>
        <a:buClr>
          <a:schemeClr val="tx1"/>
        </a:buClr>
        <a:buFont typeface="Arial" panose="020B0604020202020204" pitchFamily="34" charset="0"/>
        <a:buChar char="•"/>
        <a:defRPr sz="2160" kern="1200" cap="all" baseline="0">
          <a:solidFill>
            <a:schemeClr val="tx1"/>
          </a:solidFill>
          <a:effectLst/>
          <a:latin typeface="+mn-lt"/>
          <a:ea typeface="+mn-ea"/>
          <a:cs typeface="+mn-cs"/>
        </a:defRPr>
      </a:lvl2pPr>
      <a:lvl3pPr marL="1371600" indent="-274320" algn="l" defTabSz="1097280" rtl="0" eaLnBrk="1" latinLnBrk="0" hangingPunct="1">
        <a:lnSpc>
          <a:spcPct val="120000"/>
        </a:lnSpc>
        <a:spcBef>
          <a:spcPts val="600"/>
        </a:spcBef>
        <a:buClr>
          <a:schemeClr val="tx1"/>
        </a:buClr>
        <a:buFont typeface="Arial" panose="020B0604020202020204" pitchFamily="34" charset="0"/>
        <a:buChar char="•"/>
        <a:defRPr sz="1920" kern="1200" cap="all" baseline="0">
          <a:solidFill>
            <a:schemeClr val="tx1"/>
          </a:solidFill>
          <a:effectLst/>
          <a:latin typeface="+mn-lt"/>
          <a:ea typeface="+mn-ea"/>
          <a:cs typeface="+mn-cs"/>
        </a:defRPr>
      </a:lvl3pPr>
      <a:lvl4pPr marL="1920240" indent="-274320" algn="l" defTabSz="1097280" rtl="0" eaLnBrk="1" latinLnBrk="0" hangingPunct="1">
        <a:lnSpc>
          <a:spcPct val="120000"/>
        </a:lnSpc>
        <a:spcBef>
          <a:spcPts val="600"/>
        </a:spcBef>
        <a:buClr>
          <a:schemeClr val="tx1"/>
        </a:buClr>
        <a:buFont typeface="Arial" panose="020B0604020202020204" pitchFamily="34" charset="0"/>
        <a:buChar char="•"/>
        <a:defRPr sz="1680" kern="1200" cap="all" baseline="0">
          <a:solidFill>
            <a:schemeClr val="tx1"/>
          </a:solidFill>
          <a:effectLst/>
          <a:latin typeface="+mn-lt"/>
          <a:ea typeface="+mn-ea"/>
          <a:cs typeface="+mn-cs"/>
        </a:defRPr>
      </a:lvl4pPr>
      <a:lvl5pPr marL="2468880" indent="-274320" algn="l" defTabSz="1097280" rtl="0" eaLnBrk="1" latinLnBrk="0" hangingPunct="1">
        <a:lnSpc>
          <a:spcPct val="120000"/>
        </a:lnSpc>
        <a:spcBef>
          <a:spcPts val="600"/>
        </a:spcBef>
        <a:buClr>
          <a:schemeClr val="tx1"/>
        </a:buClr>
        <a:buFont typeface="Arial" panose="020B0604020202020204" pitchFamily="34" charset="0"/>
        <a:buChar char="•"/>
        <a:defRPr sz="1680" kern="1200" cap="all" baseline="0">
          <a:solidFill>
            <a:schemeClr val="tx1"/>
          </a:solidFill>
          <a:effectLst/>
          <a:latin typeface="+mn-lt"/>
          <a:ea typeface="+mn-ea"/>
          <a:cs typeface="+mn-cs"/>
        </a:defRPr>
      </a:lvl5pPr>
      <a:lvl6pPr marL="3017520" indent="-274320" algn="l" defTabSz="1097280" rtl="0" eaLnBrk="1" latinLnBrk="0" hangingPunct="1">
        <a:lnSpc>
          <a:spcPct val="120000"/>
        </a:lnSpc>
        <a:spcBef>
          <a:spcPts val="600"/>
        </a:spcBef>
        <a:buClr>
          <a:schemeClr val="tx1"/>
        </a:buClr>
        <a:buFont typeface="Arial" panose="020B0604020202020204" pitchFamily="34" charset="0"/>
        <a:buChar char="•"/>
        <a:defRPr sz="1680" kern="1200" cap="all" baseline="0">
          <a:solidFill>
            <a:schemeClr val="tx1"/>
          </a:solidFill>
          <a:effectLst/>
          <a:latin typeface="+mn-lt"/>
          <a:ea typeface="+mn-ea"/>
          <a:cs typeface="+mn-cs"/>
        </a:defRPr>
      </a:lvl6pPr>
      <a:lvl7pPr marL="3566160" indent="-274320" algn="l" defTabSz="1097280" rtl="0" eaLnBrk="1" latinLnBrk="0" hangingPunct="1">
        <a:lnSpc>
          <a:spcPct val="120000"/>
        </a:lnSpc>
        <a:spcBef>
          <a:spcPts val="600"/>
        </a:spcBef>
        <a:buClr>
          <a:schemeClr val="tx1"/>
        </a:buClr>
        <a:buFont typeface="Arial" panose="020B0604020202020204" pitchFamily="34" charset="0"/>
        <a:buChar char="•"/>
        <a:defRPr sz="1680" kern="1200" cap="all" baseline="0">
          <a:solidFill>
            <a:schemeClr val="tx1"/>
          </a:solidFill>
          <a:effectLst/>
          <a:latin typeface="+mn-lt"/>
          <a:ea typeface="+mn-ea"/>
          <a:cs typeface="+mn-cs"/>
        </a:defRPr>
      </a:lvl7pPr>
      <a:lvl8pPr marL="4114800" indent="-274320" algn="l" defTabSz="1097280" rtl="0" eaLnBrk="1" latinLnBrk="0" hangingPunct="1">
        <a:lnSpc>
          <a:spcPct val="120000"/>
        </a:lnSpc>
        <a:spcBef>
          <a:spcPts val="600"/>
        </a:spcBef>
        <a:buClr>
          <a:schemeClr val="tx1"/>
        </a:buClr>
        <a:buFont typeface="Arial" panose="020B0604020202020204" pitchFamily="34" charset="0"/>
        <a:buChar char="•"/>
        <a:defRPr sz="1680" kern="1200" cap="all" baseline="0">
          <a:solidFill>
            <a:schemeClr val="tx1"/>
          </a:solidFill>
          <a:effectLst/>
          <a:latin typeface="+mn-lt"/>
          <a:ea typeface="+mn-ea"/>
          <a:cs typeface="+mn-cs"/>
        </a:defRPr>
      </a:lvl8pPr>
      <a:lvl9pPr marL="4663440" indent="-274320" algn="l" defTabSz="1097280" rtl="0" eaLnBrk="1" latinLnBrk="0" hangingPunct="1">
        <a:lnSpc>
          <a:spcPct val="120000"/>
        </a:lnSpc>
        <a:spcBef>
          <a:spcPts val="600"/>
        </a:spcBef>
        <a:buClr>
          <a:schemeClr val="tx1"/>
        </a:buClr>
        <a:buFont typeface="Arial" panose="020B0604020202020204" pitchFamily="34" charset="0"/>
        <a:buChar char="•"/>
        <a:defRPr sz="1680" kern="1200" cap="all" baseline="0">
          <a:solidFill>
            <a:schemeClr val="tx1"/>
          </a:solidFill>
          <a:effectLst/>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notesSlide" Target="../notesSlides/notesSlide3.xml"/><Relationship Id="rId1" Type="http://schemas.openxmlformats.org/officeDocument/2006/relationships/slideLayout" Target="../slideLayouts/slideLayout20.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 Id="rId9" Type="http://schemas.openxmlformats.org/officeDocument/2006/relationships/image" Target="../media/image10.sv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375892"/>
            <a:ext cx="13042821" cy="1425178"/>
          </a:xfrm>
          <a:prstGeom prst="rect">
            <a:avLst/>
          </a:prstGeom>
          <a:noFill/>
          <a:ln/>
        </p:spPr>
        <p:txBody>
          <a:bodyPr wrap="square" lIns="0" tIns="0" rIns="0" bIns="0" rtlCol="0" anchor="t"/>
          <a:lstStyle/>
          <a:p>
            <a:pPr marL="0" indent="0" algn="ctr">
              <a:lnSpc>
                <a:spcPts val="5550"/>
              </a:lnSpc>
              <a:buNone/>
            </a:pPr>
            <a:r>
              <a:rPr lang="en-US" sz="4450" b="1" dirty="0">
                <a:solidFill>
                  <a:srgbClr val="000000"/>
                </a:solidFill>
                <a:latin typeface="Alexandria Medium" pitchFamily="34" charset="0"/>
                <a:ea typeface="Alexandria Medium" pitchFamily="34" charset="-122"/>
                <a:cs typeface="Alexandria Medium" pitchFamily="34" charset="-120"/>
              </a:rPr>
              <a:t>🏦</a:t>
            </a:r>
            <a:r>
              <a:rPr lang="en-US" sz="4450" b="1" dirty="0">
                <a:solidFill>
                  <a:srgbClr val="5B6E8C"/>
                </a:solidFill>
                <a:latin typeface="Alexandria Medium" pitchFamily="34" charset="0"/>
                <a:ea typeface="Alexandria Medium" pitchFamily="34" charset="-122"/>
                <a:cs typeface="Alexandria Medium" pitchFamily="34" charset="-120"/>
              </a:rPr>
              <a:t> Project Report: Banking Customer 360 &amp; Risk Engine</a:t>
            </a:r>
            <a:endParaRPr lang="en-US" sz="4450" b="1" dirty="0"/>
          </a:p>
        </p:txBody>
      </p:sp>
      <p:sp>
        <p:nvSpPr>
          <p:cNvPr id="4" name="Text 2"/>
          <p:cNvSpPr/>
          <p:nvPr/>
        </p:nvSpPr>
        <p:spPr>
          <a:xfrm>
            <a:off x="793790" y="4872752"/>
            <a:ext cx="13042821" cy="362903"/>
          </a:xfrm>
          <a:prstGeom prst="rect">
            <a:avLst/>
          </a:prstGeom>
          <a:noFill/>
          <a:ln/>
        </p:spPr>
        <p:txBody>
          <a:bodyPr wrap="none" lIns="0" tIns="0" rIns="0" bIns="0" rtlCol="0" anchor="t"/>
          <a:lstStyle/>
          <a:p>
            <a:pPr marL="0" indent="0" algn="l">
              <a:lnSpc>
                <a:spcPts val="2850"/>
              </a:lnSpc>
              <a:buNone/>
            </a:pPr>
            <a:r>
              <a:rPr lang="en-US" sz="1750" b="1" dirty="0">
                <a:solidFill>
                  <a:srgbClr val="5B6E8C"/>
                </a:solidFill>
                <a:latin typeface="Manrope" pitchFamily="34" charset="0"/>
                <a:ea typeface="Manrope" pitchFamily="34" charset="-122"/>
                <a:cs typeface="Manrope" pitchFamily="34" charset="-120"/>
              </a:rPr>
              <a:t>Author:</a:t>
            </a:r>
            <a:r>
              <a:rPr lang="en-US" sz="1750" dirty="0">
                <a:solidFill>
                  <a:srgbClr val="5B6E8C"/>
                </a:solidFill>
                <a:latin typeface="Manrope" pitchFamily="34" charset="0"/>
                <a:ea typeface="Manrope" pitchFamily="34" charset="-122"/>
                <a:cs typeface="Manrope" pitchFamily="34" charset="-120"/>
              </a:rPr>
              <a:t> Deepak R</a:t>
            </a:r>
            <a:endParaRPr lang="en-US" sz="1750" dirty="0"/>
          </a:p>
        </p:txBody>
      </p:sp>
      <p:sp>
        <p:nvSpPr>
          <p:cNvPr id="5" name="Text 3"/>
          <p:cNvSpPr/>
          <p:nvPr/>
        </p:nvSpPr>
        <p:spPr>
          <a:xfrm>
            <a:off x="793790" y="5490805"/>
            <a:ext cx="13042821" cy="362903"/>
          </a:xfrm>
          <a:prstGeom prst="rect">
            <a:avLst/>
          </a:prstGeom>
          <a:noFill/>
          <a:ln/>
        </p:spPr>
        <p:txBody>
          <a:bodyPr wrap="none" lIns="0" tIns="0" rIns="0" bIns="0" rtlCol="0" anchor="t"/>
          <a:lstStyle/>
          <a:p>
            <a:pPr marL="0" indent="0" algn="l">
              <a:lnSpc>
                <a:spcPts val="2850"/>
              </a:lnSpc>
              <a:buNone/>
            </a:pPr>
            <a:r>
              <a:rPr lang="en-US" sz="1750" b="1" dirty="0">
                <a:solidFill>
                  <a:srgbClr val="5B6E8C"/>
                </a:solidFill>
                <a:latin typeface="Manrope" pitchFamily="34" charset="0"/>
                <a:ea typeface="Manrope" pitchFamily="34" charset="-122"/>
                <a:cs typeface="Manrope" pitchFamily="34" charset="-120"/>
              </a:rPr>
              <a:t>Tools:</a:t>
            </a:r>
            <a:r>
              <a:rPr lang="en-US" sz="1750" dirty="0">
                <a:solidFill>
                  <a:srgbClr val="5B6E8C"/>
                </a:solidFill>
                <a:latin typeface="Manrope" pitchFamily="34" charset="0"/>
                <a:ea typeface="Manrope" pitchFamily="34" charset="-122"/>
                <a:cs typeface="Manrope" pitchFamily="34" charset="-120"/>
              </a:rPr>
              <a:t> Python (Pandas, NumPy, Seaborn), Power BI, Jupyter Notebook</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868085"/>
            <a:ext cx="5686306" cy="708779"/>
          </a:xfrm>
          <a:prstGeom prst="rect">
            <a:avLst/>
          </a:prstGeom>
          <a:noFill/>
          <a:ln/>
        </p:spPr>
        <p:txBody>
          <a:bodyPr wrap="none" lIns="0" tIns="0" rIns="0" bIns="0" rtlCol="0" anchor="t"/>
          <a:lstStyle/>
          <a:p>
            <a:pPr marL="0" indent="0" algn="l">
              <a:lnSpc>
                <a:spcPts val="5550"/>
              </a:lnSpc>
              <a:buNone/>
            </a:pPr>
            <a:r>
              <a:rPr lang="en-US" sz="4450" b="1" dirty="0">
                <a:latin typeface="Alexandria Medium" pitchFamily="34" charset="0"/>
                <a:ea typeface="Alexandria Medium" pitchFamily="34" charset="-122"/>
                <a:cs typeface="Alexandria Medium" pitchFamily="34" charset="-120"/>
              </a:rPr>
              <a:t>Executive Summary</a:t>
            </a:r>
            <a:endParaRPr lang="en-US" sz="4450" b="1" dirty="0"/>
          </a:p>
        </p:txBody>
      </p:sp>
      <p:sp>
        <p:nvSpPr>
          <p:cNvPr id="3" name="Text 1"/>
          <p:cNvSpPr/>
          <p:nvPr/>
        </p:nvSpPr>
        <p:spPr>
          <a:xfrm>
            <a:off x="793790" y="2030492"/>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5B6E8C"/>
                </a:solidFill>
                <a:latin typeface="Manrope" pitchFamily="34" charset="0"/>
                <a:ea typeface="Manrope" pitchFamily="34" charset="-122"/>
                <a:cs typeface="Manrope" pitchFamily="34" charset="-120"/>
              </a:rPr>
              <a:t>This project involved the end-to-end analysis of a banking dataset containing 3,000 customer records. The primary objective was to consolidate raw data, engineer value-added features (such as Tenure, Income Bands, and Churn Risk), and visualize the bank's portfolio health.</a:t>
            </a:r>
            <a:endParaRPr lang="en-US" sz="1750" dirty="0"/>
          </a:p>
        </p:txBody>
      </p:sp>
      <p:sp>
        <p:nvSpPr>
          <p:cNvPr id="4" name="Text 2"/>
          <p:cNvSpPr/>
          <p:nvPr/>
        </p:nvSpPr>
        <p:spPr>
          <a:xfrm>
            <a:off x="793790" y="3459361"/>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5B6E8C"/>
                </a:solidFill>
                <a:latin typeface="Alexandria Medium" pitchFamily="34" charset="0"/>
                <a:ea typeface="Alexandria Medium" pitchFamily="34" charset="-122"/>
                <a:cs typeface="Alexandria Medium" pitchFamily="34" charset="-120"/>
              </a:rPr>
              <a:t>Key Findings:</a:t>
            </a:r>
            <a:endParaRPr lang="en-US" sz="2650" dirty="0"/>
          </a:p>
        </p:txBody>
      </p:sp>
      <p:sp>
        <p:nvSpPr>
          <p:cNvPr id="5" name="Shape 3"/>
          <p:cNvSpPr/>
          <p:nvPr/>
        </p:nvSpPr>
        <p:spPr>
          <a:xfrm>
            <a:off x="793790" y="4224814"/>
            <a:ext cx="4196358" cy="3136702"/>
          </a:xfrm>
          <a:prstGeom prst="roundRect">
            <a:avLst>
              <a:gd name="adj" fmla="val 10847"/>
            </a:avLst>
          </a:prstGeom>
          <a:solidFill>
            <a:srgbClr val="E6F7FF"/>
          </a:solidFill>
          <a:ln w="7620">
            <a:solidFill>
              <a:srgbClr val="B3D5E4"/>
            </a:solidFill>
            <a:prstDash val="solid"/>
          </a:ln>
        </p:spPr>
      </p:sp>
      <p:sp>
        <p:nvSpPr>
          <p:cNvPr id="6" name="Text 4"/>
          <p:cNvSpPr/>
          <p:nvPr/>
        </p:nvSpPr>
        <p:spPr>
          <a:xfrm>
            <a:off x="1028224" y="4459248"/>
            <a:ext cx="3374946" cy="354330"/>
          </a:xfrm>
          <a:prstGeom prst="rect">
            <a:avLst/>
          </a:prstGeom>
          <a:noFill/>
          <a:ln/>
        </p:spPr>
        <p:txBody>
          <a:bodyPr wrap="none" lIns="0" tIns="0" rIns="0" bIns="0" rtlCol="0" anchor="t"/>
          <a:lstStyle/>
          <a:p>
            <a:pPr marL="0" indent="0" algn="l">
              <a:lnSpc>
                <a:spcPts val="2750"/>
              </a:lnSpc>
              <a:buNone/>
            </a:pPr>
            <a:r>
              <a:rPr lang="en-US" sz="2200" dirty="0">
                <a:latin typeface="Alexandria Medium" pitchFamily="34" charset="0"/>
                <a:ea typeface="Alexandria Medium" pitchFamily="34" charset="-122"/>
                <a:cs typeface="Alexandria Medium" pitchFamily="34" charset="-120"/>
              </a:rPr>
              <a:t>High Financial Leverage</a:t>
            </a:r>
            <a:endParaRPr lang="en-US" sz="2200" dirty="0"/>
          </a:p>
        </p:txBody>
      </p:sp>
      <p:sp>
        <p:nvSpPr>
          <p:cNvPr id="7" name="Text 5"/>
          <p:cNvSpPr/>
          <p:nvPr/>
        </p:nvSpPr>
        <p:spPr>
          <a:xfrm>
            <a:off x="1028224" y="4949666"/>
            <a:ext cx="3727490" cy="1814513"/>
          </a:xfrm>
          <a:prstGeom prst="rect">
            <a:avLst/>
          </a:prstGeom>
          <a:noFill/>
          <a:ln/>
        </p:spPr>
        <p:txBody>
          <a:bodyPr wrap="square" lIns="0" tIns="0" rIns="0" bIns="0" rtlCol="0" anchor="t"/>
          <a:lstStyle/>
          <a:p>
            <a:pPr marL="0" indent="0" algn="l">
              <a:lnSpc>
                <a:spcPts val="2850"/>
              </a:lnSpc>
              <a:buNone/>
            </a:pPr>
            <a:r>
              <a:rPr lang="en-US" sz="1750" dirty="0">
                <a:latin typeface="Manrope" pitchFamily="34" charset="0"/>
                <a:ea typeface="Manrope" pitchFamily="34" charset="-122"/>
                <a:cs typeface="Manrope" pitchFamily="34" charset="-120"/>
              </a:rPr>
              <a:t>A critical 61% of customers are flagged as "High Risk" (Liabilities &gt; Assets), indicating aggressive lending practices or low deposit retention.</a:t>
            </a:r>
            <a:endParaRPr lang="en-US" sz="1750" dirty="0"/>
          </a:p>
        </p:txBody>
      </p:sp>
      <p:sp>
        <p:nvSpPr>
          <p:cNvPr id="8" name="Shape 6"/>
          <p:cNvSpPr/>
          <p:nvPr/>
        </p:nvSpPr>
        <p:spPr>
          <a:xfrm>
            <a:off x="5216962" y="4224814"/>
            <a:ext cx="4196358" cy="3136702"/>
          </a:xfrm>
          <a:prstGeom prst="roundRect">
            <a:avLst>
              <a:gd name="adj" fmla="val 10847"/>
            </a:avLst>
          </a:prstGeom>
          <a:solidFill>
            <a:srgbClr val="E6F7FF"/>
          </a:solidFill>
          <a:ln w="7620">
            <a:solidFill>
              <a:srgbClr val="B3D5E4"/>
            </a:solidFill>
            <a:prstDash val="solid"/>
          </a:ln>
        </p:spPr>
      </p:sp>
      <p:sp>
        <p:nvSpPr>
          <p:cNvPr id="9" name="Text 7"/>
          <p:cNvSpPr/>
          <p:nvPr/>
        </p:nvSpPr>
        <p:spPr>
          <a:xfrm>
            <a:off x="5451396" y="4459248"/>
            <a:ext cx="2835235" cy="354330"/>
          </a:xfrm>
          <a:prstGeom prst="rect">
            <a:avLst/>
          </a:prstGeom>
          <a:noFill/>
          <a:ln/>
        </p:spPr>
        <p:txBody>
          <a:bodyPr wrap="none" lIns="0" tIns="0" rIns="0" bIns="0" rtlCol="0" anchor="t"/>
          <a:lstStyle/>
          <a:p>
            <a:pPr marL="0" indent="0" algn="l">
              <a:lnSpc>
                <a:spcPts val="2750"/>
              </a:lnSpc>
              <a:buNone/>
            </a:pPr>
            <a:r>
              <a:rPr lang="en-US" sz="2200" dirty="0">
                <a:latin typeface="Alexandria Medium" pitchFamily="34" charset="0"/>
                <a:ea typeface="Alexandria Medium" pitchFamily="34" charset="-122"/>
                <a:cs typeface="Alexandria Medium" pitchFamily="34" charset="-120"/>
              </a:rPr>
              <a:t>Loyalty Dominance</a:t>
            </a:r>
            <a:endParaRPr lang="en-US" sz="2200" dirty="0"/>
          </a:p>
        </p:txBody>
      </p:sp>
      <p:sp>
        <p:nvSpPr>
          <p:cNvPr id="10" name="Text 8"/>
          <p:cNvSpPr/>
          <p:nvPr/>
        </p:nvSpPr>
        <p:spPr>
          <a:xfrm>
            <a:off x="5451396" y="4949666"/>
            <a:ext cx="3727490" cy="1451610"/>
          </a:xfrm>
          <a:prstGeom prst="rect">
            <a:avLst/>
          </a:prstGeom>
          <a:noFill/>
          <a:ln/>
        </p:spPr>
        <p:txBody>
          <a:bodyPr wrap="square" lIns="0" tIns="0" rIns="0" bIns="0" rtlCol="0" anchor="t"/>
          <a:lstStyle/>
          <a:p>
            <a:pPr marL="0" indent="0" algn="l">
              <a:lnSpc>
                <a:spcPts val="2850"/>
              </a:lnSpc>
              <a:buNone/>
            </a:pPr>
            <a:r>
              <a:rPr lang="en-US" sz="1750" dirty="0">
                <a:latin typeface="Manrope" pitchFamily="34" charset="0"/>
                <a:ea typeface="Manrope" pitchFamily="34" charset="-122"/>
                <a:cs typeface="Manrope" pitchFamily="34" charset="-120"/>
              </a:rPr>
              <a:t>The 'Jade' tier accounts for ~44% of the customer base, suggesting the current loyalty criteria may be too broad.</a:t>
            </a:r>
            <a:endParaRPr lang="en-US" sz="1750" dirty="0"/>
          </a:p>
        </p:txBody>
      </p:sp>
      <p:sp>
        <p:nvSpPr>
          <p:cNvPr id="11" name="Shape 9"/>
          <p:cNvSpPr/>
          <p:nvPr/>
        </p:nvSpPr>
        <p:spPr>
          <a:xfrm>
            <a:off x="9640133" y="4224814"/>
            <a:ext cx="4196358" cy="3136702"/>
          </a:xfrm>
          <a:prstGeom prst="roundRect">
            <a:avLst>
              <a:gd name="adj" fmla="val 10847"/>
            </a:avLst>
          </a:prstGeom>
          <a:solidFill>
            <a:srgbClr val="E6F7FF"/>
          </a:solidFill>
          <a:ln w="7620">
            <a:solidFill>
              <a:srgbClr val="B3D5E4"/>
            </a:solidFill>
            <a:prstDash val="solid"/>
          </a:ln>
        </p:spPr>
      </p:sp>
      <p:sp>
        <p:nvSpPr>
          <p:cNvPr id="12" name="Text 10"/>
          <p:cNvSpPr/>
          <p:nvPr/>
        </p:nvSpPr>
        <p:spPr>
          <a:xfrm>
            <a:off x="9874568" y="4459248"/>
            <a:ext cx="2835235" cy="354330"/>
          </a:xfrm>
          <a:prstGeom prst="rect">
            <a:avLst/>
          </a:prstGeom>
          <a:noFill/>
          <a:ln/>
        </p:spPr>
        <p:txBody>
          <a:bodyPr wrap="none" lIns="0" tIns="0" rIns="0" bIns="0" rtlCol="0" anchor="t"/>
          <a:lstStyle/>
          <a:p>
            <a:pPr marL="0" indent="0" algn="l">
              <a:lnSpc>
                <a:spcPts val="2750"/>
              </a:lnSpc>
              <a:buNone/>
            </a:pPr>
            <a:r>
              <a:rPr lang="en-US" sz="2200" dirty="0">
                <a:latin typeface="Alexandria Medium" pitchFamily="34" charset="0"/>
                <a:ea typeface="Alexandria Medium" pitchFamily="34" charset="-122"/>
                <a:cs typeface="Alexandria Medium" pitchFamily="34" charset="-120"/>
              </a:rPr>
              <a:t>Wealth vs. Age</a:t>
            </a:r>
            <a:endParaRPr lang="en-US" sz="2200" dirty="0"/>
          </a:p>
        </p:txBody>
      </p:sp>
      <p:sp>
        <p:nvSpPr>
          <p:cNvPr id="13" name="Text 11"/>
          <p:cNvSpPr/>
          <p:nvPr/>
        </p:nvSpPr>
        <p:spPr>
          <a:xfrm>
            <a:off x="9874568" y="4949666"/>
            <a:ext cx="3727490" cy="2177415"/>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Manrope" pitchFamily="34" charset="0"/>
                <a:ea typeface="Manrope" pitchFamily="34" charset="-122"/>
                <a:cs typeface="Manrope" pitchFamily="34" charset="-120"/>
              </a:rPr>
              <a:t>There is near-zero correlation between Age and Total Assets, indicating that high-net-worth individuals are distributed evenly across generations, not just seniors.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5559" y="522922"/>
            <a:ext cx="8657630" cy="594241"/>
          </a:xfrm>
          <a:prstGeom prst="rect">
            <a:avLst/>
          </a:prstGeom>
          <a:noFill/>
          <a:ln/>
        </p:spPr>
        <p:txBody>
          <a:bodyPr wrap="none" lIns="0" tIns="0" rIns="0" bIns="0" rtlCol="0" anchor="t"/>
          <a:lstStyle/>
          <a:p>
            <a:pPr marL="0" indent="0" algn="l">
              <a:lnSpc>
                <a:spcPts val="4650"/>
              </a:lnSpc>
              <a:buNone/>
            </a:pPr>
            <a:r>
              <a:rPr lang="en-US" sz="3700" b="1" dirty="0">
                <a:latin typeface="Alexandria Medium" pitchFamily="34" charset="0"/>
                <a:ea typeface="Alexandria Medium" pitchFamily="34" charset="-122"/>
                <a:cs typeface="Alexandria Medium" pitchFamily="34" charset="-120"/>
              </a:rPr>
              <a:t>Methodology &amp; Data Transformation</a:t>
            </a:r>
            <a:endParaRPr lang="en-US" sz="3700" b="1" dirty="0"/>
          </a:p>
        </p:txBody>
      </p:sp>
      <p:sp>
        <p:nvSpPr>
          <p:cNvPr id="3" name="Text 1"/>
          <p:cNvSpPr/>
          <p:nvPr/>
        </p:nvSpPr>
        <p:spPr>
          <a:xfrm>
            <a:off x="665559" y="1193125"/>
            <a:ext cx="4880967" cy="475298"/>
          </a:xfrm>
          <a:prstGeom prst="rect">
            <a:avLst/>
          </a:prstGeom>
          <a:noFill/>
          <a:ln/>
        </p:spPr>
        <p:txBody>
          <a:bodyPr wrap="none" lIns="0" tIns="0" rIns="0" bIns="0" rtlCol="0" anchor="t"/>
          <a:lstStyle/>
          <a:p>
            <a:pPr marL="0" indent="0" algn="l">
              <a:lnSpc>
                <a:spcPts val="3700"/>
              </a:lnSpc>
              <a:buNone/>
            </a:pPr>
            <a:r>
              <a:rPr lang="en-US" sz="2950" b="1" u="sng" dirty="0">
                <a:latin typeface="Alexandria Medium" pitchFamily="34" charset="0"/>
                <a:ea typeface="Alexandria Medium" pitchFamily="34" charset="-122"/>
                <a:cs typeface="Alexandria Medium" pitchFamily="34" charset="-120"/>
              </a:rPr>
              <a:t>A. Data Cleaning (Python)</a:t>
            </a:r>
            <a:endParaRPr lang="en-US" sz="2950" b="1" u="sng" dirty="0"/>
          </a:p>
        </p:txBody>
      </p:sp>
      <p:sp>
        <p:nvSpPr>
          <p:cNvPr id="4" name="Text 2"/>
          <p:cNvSpPr/>
          <p:nvPr/>
        </p:nvSpPr>
        <p:spPr>
          <a:xfrm>
            <a:off x="665559" y="1953578"/>
            <a:ext cx="13299281" cy="304205"/>
          </a:xfrm>
          <a:prstGeom prst="rect">
            <a:avLst/>
          </a:prstGeom>
          <a:noFill/>
          <a:ln/>
        </p:spPr>
        <p:txBody>
          <a:bodyPr wrap="none" lIns="0" tIns="0" rIns="0" bIns="0" rtlCol="0" anchor="t"/>
          <a:lstStyle/>
          <a:p>
            <a:pPr marL="0" indent="0" algn="l">
              <a:lnSpc>
                <a:spcPts val="2350"/>
              </a:lnSpc>
              <a:buNone/>
            </a:pPr>
            <a:r>
              <a:rPr lang="en-US" sz="1450" dirty="0">
                <a:latin typeface="Manrope" pitchFamily="34" charset="0"/>
                <a:ea typeface="Manrope" pitchFamily="34" charset="-122"/>
                <a:cs typeface="Manrope" pitchFamily="34" charset="-120"/>
              </a:rPr>
              <a:t>Raw data was processed using Pandas to ensure data quality.</a:t>
            </a:r>
            <a:endParaRPr lang="en-US" sz="1450" dirty="0"/>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5559" y="2512219"/>
            <a:ext cx="190143" cy="190143"/>
          </a:xfrm>
          <a:prstGeom prst="rect">
            <a:avLst/>
          </a:prstGeom>
        </p:spPr>
      </p:pic>
      <p:pic>
        <p:nvPicPr>
          <p:cNvPr id="6" name="Image 1" descr="preencoded.png"/>
          <p:cNvPicPr>
            <a:picLocks noChangeAspect="1"/>
          </p:cNvPicPr>
          <p:nvPr/>
        </p:nvPicPr>
        <p:blipFill>
          <a:blip r:embed="rId5"/>
          <a:stretch>
            <a:fillRect/>
          </a:stretch>
        </p:blipFill>
        <p:spPr>
          <a:xfrm>
            <a:off x="665559" y="2771894"/>
            <a:ext cx="4306253" cy="22860"/>
          </a:xfrm>
          <a:prstGeom prst="rect">
            <a:avLst/>
          </a:prstGeom>
        </p:spPr>
      </p:pic>
      <p:sp>
        <p:nvSpPr>
          <p:cNvPr id="7" name="Text 3"/>
          <p:cNvSpPr/>
          <p:nvPr/>
        </p:nvSpPr>
        <p:spPr>
          <a:xfrm>
            <a:off x="665559" y="2912626"/>
            <a:ext cx="2376964" cy="297061"/>
          </a:xfrm>
          <a:prstGeom prst="rect">
            <a:avLst/>
          </a:prstGeom>
          <a:noFill/>
          <a:ln/>
        </p:spPr>
        <p:txBody>
          <a:bodyPr wrap="none" lIns="0" tIns="0" rIns="0" bIns="0" rtlCol="0" anchor="t"/>
          <a:lstStyle/>
          <a:p>
            <a:pPr marL="0" indent="0" algn="l">
              <a:lnSpc>
                <a:spcPts val="2300"/>
              </a:lnSpc>
              <a:buNone/>
            </a:pPr>
            <a:r>
              <a:rPr lang="en-US" sz="1850" b="1" dirty="0">
                <a:latin typeface="Alexandria Medium" pitchFamily="34" charset="0"/>
                <a:ea typeface="Alexandria Medium" pitchFamily="34" charset="-122"/>
                <a:cs typeface="Alexandria Medium" pitchFamily="34" charset="-120"/>
              </a:rPr>
              <a:t>Date Normalization</a:t>
            </a:r>
            <a:endParaRPr lang="en-US" sz="1850" b="1" dirty="0"/>
          </a:p>
        </p:txBody>
      </p:sp>
      <p:sp>
        <p:nvSpPr>
          <p:cNvPr id="8" name="Text 4"/>
          <p:cNvSpPr/>
          <p:nvPr/>
        </p:nvSpPr>
        <p:spPr>
          <a:xfrm>
            <a:off x="665559" y="3323749"/>
            <a:ext cx="4306253" cy="608409"/>
          </a:xfrm>
          <a:prstGeom prst="rect">
            <a:avLst/>
          </a:prstGeom>
          <a:noFill/>
          <a:ln/>
        </p:spPr>
        <p:txBody>
          <a:bodyPr wrap="square" lIns="0" tIns="0" rIns="0" bIns="0" rtlCol="0" anchor="t"/>
          <a:lstStyle/>
          <a:p>
            <a:pPr marL="0" indent="0" algn="l">
              <a:lnSpc>
                <a:spcPts val="2350"/>
              </a:lnSpc>
              <a:buNone/>
            </a:pPr>
            <a:r>
              <a:rPr lang="en-US" sz="1450" dirty="0">
                <a:latin typeface="Manrope" pitchFamily="34" charset="0"/>
                <a:ea typeface="Manrope" pitchFamily="34" charset="-122"/>
                <a:cs typeface="Manrope" pitchFamily="34" charset="-120"/>
              </a:rPr>
              <a:t>Converted Joined Bank to datetime objects to calculate Tenure_Years.</a:t>
            </a:r>
            <a:endParaRPr lang="en-US" sz="1450" dirty="0"/>
          </a:p>
        </p:txBody>
      </p:sp>
      <p:pic>
        <p:nvPicPr>
          <p:cNvPr id="9"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161955" y="2512219"/>
            <a:ext cx="190143" cy="190143"/>
          </a:xfrm>
          <a:prstGeom prst="rect">
            <a:avLst/>
          </a:prstGeom>
        </p:spPr>
      </p:pic>
      <p:pic>
        <p:nvPicPr>
          <p:cNvPr id="10" name="Image 3" descr="preencoded.png"/>
          <p:cNvPicPr>
            <a:picLocks noChangeAspect="1"/>
          </p:cNvPicPr>
          <p:nvPr/>
        </p:nvPicPr>
        <p:blipFill>
          <a:blip r:embed="rId5"/>
          <a:stretch>
            <a:fillRect/>
          </a:stretch>
        </p:blipFill>
        <p:spPr>
          <a:xfrm>
            <a:off x="5161955" y="2771894"/>
            <a:ext cx="4306372" cy="22860"/>
          </a:xfrm>
          <a:prstGeom prst="rect">
            <a:avLst/>
          </a:prstGeom>
        </p:spPr>
      </p:pic>
      <p:sp>
        <p:nvSpPr>
          <p:cNvPr id="11" name="Text 5"/>
          <p:cNvSpPr/>
          <p:nvPr/>
        </p:nvSpPr>
        <p:spPr>
          <a:xfrm>
            <a:off x="5161955" y="2912626"/>
            <a:ext cx="2376964" cy="297061"/>
          </a:xfrm>
          <a:prstGeom prst="rect">
            <a:avLst/>
          </a:prstGeom>
          <a:noFill/>
          <a:ln/>
        </p:spPr>
        <p:txBody>
          <a:bodyPr wrap="none" lIns="0" tIns="0" rIns="0" bIns="0" rtlCol="0" anchor="t"/>
          <a:lstStyle/>
          <a:p>
            <a:pPr marL="0" indent="0" algn="l">
              <a:lnSpc>
                <a:spcPts val="2300"/>
              </a:lnSpc>
              <a:buNone/>
            </a:pPr>
            <a:r>
              <a:rPr lang="en-US" sz="1850" b="1" dirty="0">
                <a:latin typeface="Alexandria Medium" pitchFamily="34" charset="0"/>
                <a:ea typeface="Alexandria Medium" pitchFamily="34" charset="-122"/>
                <a:cs typeface="Alexandria Medium" pitchFamily="34" charset="-120"/>
              </a:rPr>
              <a:t>Categorization</a:t>
            </a:r>
            <a:endParaRPr lang="en-US" sz="1850" b="1" dirty="0"/>
          </a:p>
        </p:txBody>
      </p:sp>
      <p:sp>
        <p:nvSpPr>
          <p:cNvPr id="12" name="Text 6"/>
          <p:cNvSpPr/>
          <p:nvPr/>
        </p:nvSpPr>
        <p:spPr>
          <a:xfrm>
            <a:off x="5161955" y="3323749"/>
            <a:ext cx="4306372" cy="608409"/>
          </a:xfrm>
          <a:prstGeom prst="rect">
            <a:avLst/>
          </a:prstGeom>
          <a:noFill/>
          <a:ln/>
        </p:spPr>
        <p:txBody>
          <a:bodyPr wrap="square" lIns="0" tIns="0" rIns="0" bIns="0" rtlCol="0" anchor="t"/>
          <a:lstStyle/>
          <a:p>
            <a:pPr marL="0" indent="0" algn="l">
              <a:lnSpc>
                <a:spcPts val="2350"/>
              </a:lnSpc>
              <a:buNone/>
            </a:pPr>
            <a:r>
              <a:rPr lang="en-US" sz="1450" dirty="0">
                <a:latin typeface="Manrope" pitchFamily="34" charset="0"/>
                <a:ea typeface="Manrope" pitchFamily="34" charset="-122"/>
                <a:cs typeface="Manrope" pitchFamily="34" charset="-120"/>
              </a:rPr>
              <a:t>Grouped continuous variables into actionable buckets:</a:t>
            </a:r>
            <a:endParaRPr lang="en-US" sz="1450" dirty="0"/>
          </a:p>
        </p:txBody>
      </p:sp>
      <p:sp>
        <p:nvSpPr>
          <p:cNvPr id="13" name="Text 7"/>
          <p:cNvSpPr/>
          <p:nvPr/>
        </p:nvSpPr>
        <p:spPr>
          <a:xfrm>
            <a:off x="5161955" y="4046220"/>
            <a:ext cx="4306372" cy="608409"/>
          </a:xfrm>
          <a:prstGeom prst="rect">
            <a:avLst/>
          </a:prstGeom>
          <a:noFill/>
          <a:ln/>
        </p:spPr>
        <p:txBody>
          <a:bodyPr wrap="square" lIns="0" tIns="0" rIns="0" bIns="0" rtlCol="0" anchor="t"/>
          <a:lstStyle/>
          <a:p>
            <a:pPr marL="342900" indent="-342900" algn="l">
              <a:lnSpc>
                <a:spcPts val="2350"/>
              </a:lnSpc>
              <a:buSzPct val="100000"/>
              <a:buChar char="•"/>
            </a:pPr>
            <a:r>
              <a:rPr lang="en-US" sz="1450" dirty="0">
                <a:latin typeface="Manrope" pitchFamily="34" charset="0"/>
                <a:ea typeface="Manrope" pitchFamily="34" charset="-122"/>
                <a:cs typeface="Manrope" pitchFamily="34" charset="-120"/>
              </a:rPr>
              <a:t>Age_Group: Young Adult, Adult, Middle-Aged, Senior.</a:t>
            </a:r>
            <a:endParaRPr lang="en-US" sz="1450" dirty="0"/>
          </a:p>
        </p:txBody>
      </p:sp>
      <p:sp>
        <p:nvSpPr>
          <p:cNvPr id="14" name="Text 8"/>
          <p:cNvSpPr/>
          <p:nvPr/>
        </p:nvSpPr>
        <p:spPr>
          <a:xfrm>
            <a:off x="5161955" y="4721185"/>
            <a:ext cx="4306372" cy="608409"/>
          </a:xfrm>
          <a:prstGeom prst="rect">
            <a:avLst/>
          </a:prstGeom>
          <a:noFill/>
          <a:ln/>
        </p:spPr>
        <p:txBody>
          <a:bodyPr wrap="square" lIns="0" tIns="0" rIns="0" bIns="0" rtlCol="0" anchor="t"/>
          <a:lstStyle/>
          <a:p>
            <a:pPr marL="342900" indent="-342900" algn="l">
              <a:lnSpc>
                <a:spcPts val="2350"/>
              </a:lnSpc>
              <a:buSzPct val="100000"/>
              <a:buChar char="•"/>
            </a:pPr>
            <a:r>
              <a:rPr lang="en-US" sz="1450" dirty="0">
                <a:latin typeface="Manrope" pitchFamily="34" charset="0"/>
                <a:ea typeface="Manrope" pitchFamily="34" charset="-122"/>
                <a:cs typeface="Manrope" pitchFamily="34" charset="-120"/>
              </a:rPr>
              <a:t>Income_Band: Low (&lt;100k), Medium, High (&gt;300k).</a:t>
            </a:r>
            <a:endParaRPr lang="en-US" sz="1450" dirty="0"/>
          </a:p>
        </p:txBody>
      </p:sp>
      <p:pic>
        <p:nvPicPr>
          <p:cNvPr id="15" name="Image 4"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658469" y="2512219"/>
            <a:ext cx="190143" cy="190143"/>
          </a:xfrm>
          <a:prstGeom prst="rect">
            <a:avLst/>
          </a:prstGeom>
        </p:spPr>
      </p:pic>
      <p:pic>
        <p:nvPicPr>
          <p:cNvPr id="16" name="Image 5" descr="preencoded.png"/>
          <p:cNvPicPr>
            <a:picLocks noChangeAspect="1"/>
          </p:cNvPicPr>
          <p:nvPr/>
        </p:nvPicPr>
        <p:blipFill>
          <a:blip r:embed="rId5"/>
          <a:stretch>
            <a:fillRect/>
          </a:stretch>
        </p:blipFill>
        <p:spPr>
          <a:xfrm>
            <a:off x="9658469" y="2788801"/>
            <a:ext cx="4306372" cy="22860"/>
          </a:xfrm>
          <a:prstGeom prst="rect">
            <a:avLst/>
          </a:prstGeom>
        </p:spPr>
      </p:pic>
      <p:sp>
        <p:nvSpPr>
          <p:cNvPr id="17" name="Text 9"/>
          <p:cNvSpPr/>
          <p:nvPr/>
        </p:nvSpPr>
        <p:spPr>
          <a:xfrm>
            <a:off x="9658469" y="2912626"/>
            <a:ext cx="2376964" cy="297061"/>
          </a:xfrm>
          <a:prstGeom prst="rect">
            <a:avLst/>
          </a:prstGeom>
          <a:noFill/>
          <a:ln/>
        </p:spPr>
        <p:txBody>
          <a:bodyPr wrap="none" lIns="0" tIns="0" rIns="0" bIns="0" rtlCol="0" anchor="t"/>
          <a:lstStyle/>
          <a:p>
            <a:pPr marL="0" indent="0" algn="l">
              <a:lnSpc>
                <a:spcPts val="2300"/>
              </a:lnSpc>
              <a:buNone/>
            </a:pPr>
            <a:r>
              <a:rPr lang="en-US" sz="1850" b="1" dirty="0">
                <a:latin typeface="Alexandria Medium" pitchFamily="34" charset="0"/>
                <a:ea typeface="Alexandria Medium" pitchFamily="34" charset="-122"/>
                <a:cs typeface="Alexandria Medium" pitchFamily="34" charset="-120"/>
              </a:rPr>
              <a:t>Metric Creation</a:t>
            </a:r>
            <a:endParaRPr lang="en-US" sz="1850" b="1" dirty="0"/>
          </a:p>
        </p:txBody>
      </p:sp>
      <p:sp>
        <p:nvSpPr>
          <p:cNvPr id="18" name="Text 10"/>
          <p:cNvSpPr/>
          <p:nvPr/>
        </p:nvSpPr>
        <p:spPr>
          <a:xfrm>
            <a:off x="9658469" y="3323749"/>
            <a:ext cx="4306372" cy="912614"/>
          </a:xfrm>
          <a:prstGeom prst="rect">
            <a:avLst/>
          </a:prstGeom>
          <a:noFill/>
          <a:ln/>
        </p:spPr>
        <p:txBody>
          <a:bodyPr wrap="square" lIns="0" tIns="0" rIns="0" bIns="0" rtlCol="0" anchor="t"/>
          <a:lstStyle/>
          <a:p>
            <a:pPr marL="0" indent="0" algn="l">
              <a:lnSpc>
                <a:spcPts val="2350"/>
              </a:lnSpc>
              <a:buNone/>
            </a:pPr>
            <a:r>
              <a:rPr lang="en-US" sz="1450" dirty="0">
                <a:latin typeface="Manrope" pitchFamily="34" charset="0"/>
                <a:ea typeface="Manrope" pitchFamily="34" charset="-122"/>
                <a:cs typeface="Manrope" pitchFamily="34" charset="-120"/>
              </a:rPr>
              <a:t>Calculated Total_Assets (Sum of deposits/savings) and Total_Liabilities (Sum of loans/credit).</a:t>
            </a:r>
            <a:endParaRPr lang="en-US" sz="1450" dirty="0"/>
          </a:p>
        </p:txBody>
      </p:sp>
      <p:sp>
        <p:nvSpPr>
          <p:cNvPr id="19" name="Text 11"/>
          <p:cNvSpPr/>
          <p:nvPr/>
        </p:nvSpPr>
        <p:spPr>
          <a:xfrm>
            <a:off x="665559" y="5757267"/>
            <a:ext cx="6346984" cy="475298"/>
          </a:xfrm>
          <a:prstGeom prst="rect">
            <a:avLst/>
          </a:prstGeom>
          <a:noFill/>
          <a:ln/>
        </p:spPr>
        <p:txBody>
          <a:bodyPr wrap="none" lIns="0" tIns="0" rIns="0" bIns="0" rtlCol="0" anchor="t"/>
          <a:lstStyle/>
          <a:p>
            <a:pPr marL="0" indent="0" algn="l">
              <a:lnSpc>
                <a:spcPts val="3700"/>
              </a:lnSpc>
              <a:buNone/>
            </a:pPr>
            <a:r>
              <a:rPr lang="en-US" sz="2950" b="1" u="sng" dirty="0">
                <a:latin typeface="Alexandria Medium" pitchFamily="34" charset="0"/>
                <a:ea typeface="Alexandria Medium" pitchFamily="34" charset="-122"/>
                <a:cs typeface="Alexandria Medium" pitchFamily="34" charset="-120"/>
              </a:rPr>
              <a:t>B. Advanced Feature Engineering</a:t>
            </a:r>
            <a:endParaRPr lang="en-US" sz="2950" b="1" u="sng" dirty="0"/>
          </a:p>
        </p:txBody>
      </p:sp>
      <p:sp>
        <p:nvSpPr>
          <p:cNvPr id="20" name="Text 12"/>
          <p:cNvSpPr/>
          <p:nvPr/>
        </p:nvSpPr>
        <p:spPr>
          <a:xfrm>
            <a:off x="665559" y="6517719"/>
            <a:ext cx="13299281" cy="304205"/>
          </a:xfrm>
          <a:prstGeom prst="rect">
            <a:avLst/>
          </a:prstGeom>
          <a:noFill/>
          <a:ln/>
        </p:spPr>
        <p:txBody>
          <a:bodyPr wrap="none" lIns="0" tIns="0" rIns="0" bIns="0" rtlCol="0" anchor="t"/>
          <a:lstStyle/>
          <a:p>
            <a:pPr marL="0" indent="0" algn="l">
              <a:lnSpc>
                <a:spcPts val="2350"/>
              </a:lnSpc>
              <a:buNone/>
            </a:pPr>
            <a:r>
              <a:rPr lang="en-US" sz="1450" dirty="0">
                <a:latin typeface="Manrope" pitchFamily="34" charset="0"/>
                <a:ea typeface="Manrope" pitchFamily="34" charset="-122"/>
                <a:cs typeface="Manrope" pitchFamily="34" charset="-120"/>
              </a:rPr>
              <a:t>Using NumPy, we created binary logic flags to segment customers:</a:t>
            </a:r>
            <a:endParaRPr lang="en-US" sz="1450" dirty="0"/>
          </a:p>
        </p:txBody>
      </p:sp>
      <p:sp>
        <p:nvSpPr>
          <p:cNvPr id="21" name="Text 13"/>
          <p:cNvSpPr/>
          <p:nvPr/>
        </p:nvSpPr>
        <p:spPr>
          <a:xfrm>
            <a:off x="665559" y="7035760"/>
            <a:ext cx="13299281" cy="304205"/>
          </a:xfrm>
          <a:prstGeom prst="rect">
            <a:avLst/>
          </a:prstGeom>
          <a:noFill/>
          <a:ln/>
        </p:spPr>
        <p:txBody>
          <a:bodyPr wrap="none" lIns="0" tIns="0" rIns="0" bIns="0" rtlCol="0" anchor="t"/>
          <a:lstStyle/>
          <a:p>
            <a:pPr marL="342900" indent="-342900" algn="l">
              <a:lnSpc>
                <a:spcPts val="2350"/>
              </a:lnSpc>
              <a:buSzPct val="100000"/>
              <a:buChar char="•"/>
            </a:pPr>
            <a:r>
              <a:rPr lang="en-US" sz="1450" b="1" dirty="0">
                <a:latin typeface="Manrope" pitchFamily="34" charset="0"/>
                <a:ea typeface="Manrope" pitchFamily="34" charset="-122"/>
                <a:cs typeface="Manrope" pitchFamily="34" charset="-120"/>
              </a:rPr>
              <a:t>VIP Status:</a:t>
            </a:r>
            <a:r>
              <a:rPr lang="en-US" sz="1450" dirty="0">
                <a:latin typeface="Manrope" pitchFamily="34" charset="0"/>
                <a:ea typeface="Manrope" pitchFamily="34" charset="-122"/>
                <a:cs typeface="Manrope" pitchFamily="34" charset="-120"/>
              </a:rPr>
              <a:t> Customers with Total Assets &gt; $2,000,000.</a:t>
            </a:r>
            <a:endParaRPr lang="en-US" sz="1450" dirty="0"/>
          </a:p>
        </p:txBody>
      </p:sp>
      <p:sp>
        <p:nvSpPr>
          <p:cNvPr id="22" name="Text 14"/>
          <p:cNvSpPr/>
          <p:nvPr/>
        </p:nvSpPr>
        <p:spPr>
          <a:xfrm>
            <a:off x="665559" y="7406521"/>
            <a:ext cx="13299281" cy="304205"/>
          </a:xfrm>
          <a:prstGeom prst="rect">
            <a:avLst/>
          </a:prstGeom>
          <a:noFill/>
          <a:ln/>
        </p:spPr>
        <p:txBody>
          <a:bodyPr wrap="none" lIns="0" tIns="0" rIns="0" bIns="0" rtlCol="0" anchor="t"/>
          <a:lstStyle/>
          <a:p>
            <a:pPr marL="342900" indent="-342900" algn="l">
              <a:lnSpc>
                <a:spcPts val="2350"/>
              </a:lnSpc>
              <a:buSzPct val="100000"/>
              <a:buChar char="•"/>
            </a:pPr>
            <a:r>
              <a:rPr lang="en-US" sz="1450" b="1" dirty="0">
                <a:latin typeface="Manrope" pitchFamily="34" charset="0"/>
                <a:ea typeface="Manrope" pitchFamily="34" charset="-122"/>
                <a:cs typeface="Manrope" pitchFamily="34" charset="-120"/>
              </a:rPr>
              <a:t>Churn Risk Flag:</a:t>
            </a:r>
            <a:r>
              <a:rPr lang="en-US" sz="1450" dirty="0">
                <a:latin typeface="Manrope" pitchFamily="34" charset="0"/>
                <a:ea typeface="Manrope" pitchFamily="34" charset="-122"/>
                <a:cs typeface="Manrope" pitchFamily="34" charset="-120"/>
              </a:rPr>
              <a:t> Calculated via Debt_to_Asset_Ratio. If Ratio &gt; 1.0, customer is flagged as "High Risk."</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539353" y="425053"/>
            <a:ext cx="5667851" cy="481608"/>
          </a:xfrm>
          <a:prstGeom prst="rect">
            <a:avLst/>
          </a:prstGeom>
          <a:noFill/>
          <a:ln/>
        </p:spPr>
        <p:txBody>
          <a:bodyPr wrap="none" lIns="0" tIns="0" rIns="0" bIns="0" rtlCol="0" anchor="t"/>
          <a:lstStyle/>
          <a:p>
            <a:pPr marL="0" indent="0" algn="l">
              <a:lnSpc>
                <a:spcPts val="3750"/>
              </a:lnSpc>
              <a:buNone/>
            </a:pPr>
            <a:r>
              <a:rPr lang="en-US" sz="3000" b="1" dirty="0">
                <a:latin typeface="Alexandria Medium" pitchFamily="34" charset="0"/>
                <a:ea typeface="Alexandria Medium" pitchFamily="34" charset="-122"/>
                <a:cs typeface="Alexandria Medium" pitchFamily="34" charset="-120"/>
              </a:rPr>
              <a:t>Deep-Dive Analysis &amp; Insights</a:t>
            </a:r>
            <a:endParaRPr lang="en-US" sz="3000" b="1" dirty="0"/>
          </a:p>
        </p:txBody>
      </p:sp>
      <p:sp>
        <p:nvSpPr>
          <p:cNvPr id="4" name="Text 1"/>
          <p:cNvSpPr/>
          <p:nvPr/>
        </p:nvSpPr>
        <p:spPr>
          <a:xfrm>
            <a:off x="539353" y="968216"/>
            <a:ext cx="4506873" cy="385286"/>
          </a:xfrm>
          <a:prstGeom prst="rect">
            <a:avLst/>
          </a:prstGeom>
          <a:noFill/>
          <a:ln/>
        </p:spPr>
        <p:txBody>
          <a:bodyPr wrap="none" lIns="0" tIns="0" rIns="0" bIns="0" rtlCol="0" anchor="t"/>
          <a:lstStyle/>
          <a:p>
            <a:pPr marL="0" indent="0" algn="l">
              <a:lnSpc>
                <a:spcPts val="3000"/>
              </a:lnSpc>
              <a:buNone/>
            </a:pPr>
            <a:r>
              <a:rPr lang="en-US" sz="2400" dirty="0">
                <a:latin typeface="Alexandria Medium" pitchFamily="34" charset="0"/>
                <a:ea typeface="Alexandria Medium" pitchFamily="34" charset="-122"/>
                <a:cs typeface="Alexandria Medium" pitchFamily="34" charset="-120"/>
              </a:rPr>
              <a:t>I. Financial Health &amp; Solvency</a:t>
            </a:r>
            <a:endParaRPr lang="en-US" sz="2400" dirty="0"/>
          </a:p>
        </p:txBody>
      </p:sp>
      <p:sp>
        <p:nvSpPr>
          <p:cNvPr id="5" name="Text 2"/>
          <p:cNvSpPr/>
          <p:nvPr/>
        </p:nvSpPr>
        <p:spPr>
          <a:xfrm>
            <a:off x="539353" y="1584603"/>
            <a:ext cx="8065294" cy="492919"/>
          </a:xfrm>
          <a:prstGeom prst="rect">
            <a:avLst/>
          </a:prstGeom>
          <a:noFill/>
          <a:ln/>
        </p:spPr>
        <p:txBody>
          <a:bodyPr wrap="square" lIns="0" tIns="0" rIns="0" bIns="0" rtlCol="0" anchor="t"/>
          <a:lstStyle/>
          <a:p>
            <a:pPr marL="0" indent="0" algn="l">
              <a:lnSpc>
                <a:spcPts val="1900"/>
              </a:lnSpc>
              <a:buNone/>
            </a:pPr>
            <a:r>
              <a:rPr lang="en-US" sz="1200" dirty="0">
                <a:latin typeface="Manrope" pitchFamily="34" charset="0"/>
                <a:ea typeface="Manrope" pitchFamily="34" charset="-122"/>
                <a:cs typeface="Manrope" pitchFamily="34" charset="-120"/>
              </a:rPr>
              <a:t>The most significant finding is the disconnect between the bank's internal "Risk Weighting" and actual financial solvency.</a:t>
            </a:r>
            <a:endParaRPr lang="en-US" sz="1200" dirty="0"/>
          </a:p>
        </p:txBody>
      </p:sp>
      <p:sp>
        <p:nvSpPr>
          <p:cNvPr id="6" name="Text 3"/>
          <p:cNvSpPr/>
          <p:nvPr/>
        </p:nvSpPr>
        <p:spPr>
          <a:xfrm>
            <a:off x="539353" y="2250877"/>
            <a:ext cx="8065294" cy="739378"/>
          </a:xfrm>
          <a:prstGeom prst="rect">
            <a:avLst/>
          </a:prstGeom>
          <a:noFill/>
          <a:ln/>
        </p:spPr>
        <p:txBody>
          <a:bodyPr wrap="square" lIns="0" tIns="0" rIns="0" bIns="0" rtlCol="0" anchor="t"/>
          <a:lstStyle/>
          <a:p>
            <a:pPr marL="342900" indent="-342900" algn="l">
              <a:lnSpc>
                <a:spcPts val="1900"/>
              </a:lnSpc>
              <a:buSzPct val="100000"/>
              <a:buChar char="•"/>
            </a:pPr>
            <a:r>
              <a:rPr lang="en-US" sz="1200" b="1" dirty="0">
                <a:latin typeface="Manrope" pitchFamily="34" charset="0"/>
                <a:ea typeface="Manrope" pitchFamily="34" charset="-122"/>
                <a:cs typeface="Manrope" pitchFamily="34" charset="-120"/>
              </a:rPr>
              <a:t>The "Red Zone" (Solvency):</a:t>
            </a:r>
            <a:r>
              <a:rPr lang="en-US" sz="1200" dirty="0">
                <a:latin typeface="Manrope" pitchFamily="34" charset="0"/>
                <a:ea typeface="Manrope" pitchFamily="34" charset="-122"/>
                <a:cs typeface="Manrope" pitchFamily="34" charset="-120"/>
              </a:rPr>
              <a:t> Scatter plot analysis revealed that 1,849 customers (61%) owe more money to the bank than they hold in assets. While this generates interest income, it poses a severe default risk during economic downturns.</a:t>
            </a:r>
            <a:endParaRPr lang="en-US" sz="1200" dirty="0"/>
          </a:p>
        </p:txBody>
      </p:sp>
      <p:sp>
        <p:nvSpPr>
          <p:cNvPr id="7" name="Text 4"/>
          <p:cNvSpPr/>
          <p:nvPr/>
        </p:nvSpPr>
        <p:spPr>
          <a:xfrm>
            <a:off x="539353" y="3044190"/>
            <a:ext cx="8065294" cy="492919"/>
          </a:xfrm>
          <a:prstGeom prst="rect">
            <a:avLst/>
          </a:prstGeom>
          <a:noFill/>
          <a:ln/>
        </p:spPr>
        <p:txBody>
          <a:bodyPr wrap="square" lIns="0" tIns="0" rIns="0" bIns="0" rtlCol="0" anchor="t"/>
          <a:lstStyle/>
          <a:p>
            <a:pPr marL="342900" indent="-342900" algn="l">
              <a:lnSpc>
                <a:spcPts val="1900"/>
              </a:lnSpc>
              <a:buSzPct val="100000"/>
              <a:buChar char="•"/>
            </a:pPr>
            <a:r>
              <a:rPr lang="en-US" sz="1200" b="1" dirty="0">
                <a:latin typeface="Manrope" pitchFamily="34" charset="0"/>
                <a:ea typeface="Manrope" pitchFamily="34" charset="-122"/>
                <a:cs typeface="Manrope" pitchFamily="34" charset="-120"/>
              </a:rPr>
              <a:t>Internal Risk Ratings:</a:t>
            </a:r>
            <a:r>
              <a:rPr lang="en-US" sz="1200" dirty="0">
                <a:latin typeface="Manrope" pitchFamily="34" charset="0"/>
                <a:ea typeface="Manrope" pitchFamily="34" charset="-122"/>
                <a:cs typeface="Manrope" pitchFamily="34" charset="-120"/>
              </a:rPr>
              <a:t> Despite high leverage, the majority of customers fall into Risk Weighting 1 &amp; 2 (Low Risk). This suggests the bank's internal model prioritizes repayment history over asset collateral.</a:t>
            </a:r>
            <a:endParaRPr lang="en-US" sz="1200" dirty="0"/>
          </a:p>
        </p:txBody>
      </p:sp>
      <p:sp>
        <p:nvSpPr>
          <p:cNvPr id="8" name="Text 5"/>
          <p:cNvSpPr/>
          <p:nvPr/>
        </p:nvSpPr>
        <p:spPr>
          <a:xfrm>
            <a:off x="539353" y="3768209"/>
            <a:ext cx="6371987" cy="385286"/>
          </a:xfrm>
          <a:prstGeom prst="rect">
            <a:avLst/>
          </a:prstGeom>
          <a:noFill/>
          <a:ln/>
        </p:spPr>
        <p:txBody>
          <a:bodyPr wrap="none" lIns="0" tIns="0" rIns="0" bIns="0" rtlCol="0" anchor="t"/>
          <a:lstStyle/>
          <a:p>
            <a:pPr marL="0" indent="0" algn="l">
              <a:lnSpc>
                <a:spcPts val="3000"/>
              </a:lnSpc>
              <a:buNone/>
            </a:pPr>
            <a:r>
              <a:rPr lang="en-US" sz="2400" dirty="0">
                <a:latin typeface="Alexandria Medium" pitchFamily="34" charset="0"/>
                <a:ea typeface="Alexandria Medium" pitchFamily="34" charset="-122"/>
                <a:cs typeface="Alexandria Medium" pitchFamily="34" charset="-120"/>
              </a:rPr>
              <a:t>II. Customer Demographics &amp; Occupation</a:t>
            </a:r>
            <a:endParaRPr lang="en-US" sz="2400" dirty="0"/>
          </a:p>
        </p:txBody>
      </p:sp>
      <p:sp>
        <p:nvSpPr>
          <p:cNvPr id="9" name="Text 6"/>
          <p:cNvSpPr/>
          <p:nvPr/>
        </p:nvSpPr>
        <p:spPr>
          <a:xfrm>
            <a:off x="539353" y="4384596"/>
            <a:ext cx="8065294" cy="492919"/>
          </a:xfrm>
          <a:prstGeom prst="rect">
            <a:avLst/>
          </a:prstGeom>
          <a:noFill/>
          <a:ln/>
        </p:spPr>
        <p:txBody>
          <a:bodyPr wrap="square" lIns="0" tIns="0" rIns="0" bIns="0" rtlCol="0" anchor="t"/>
          <a:lstStyle/>
          <a:p>
            <a:pPr marL="342900" indent="-342900" algn="l">
              <a:lnSpc>
                <a:spcPts val="1900"/>
              </a:lnSpc>
              <a:buSzPct val="100000"/>
              <a:buChar char="•"/>
            </a:pPr>
            <a:r>
              <a:rPr lang="en-US" sz="1200" b="1" dirty="0">
                <a:latin typeface="Manrope" pitchFamily="34" charset="0"/>
                <a:ea typeface="Manrope" pitchFamily="34" charset="-122"/>
                <a:cs typeface="Manrope" pitchFamily="34" charset="-120"/>
              </a:rPr>
              <a:t>Top Earners:</a:t>
            </a:r>
            <a:r>
              <a:rPr lang="en-US" sz="1200" dirty="0">
                <a:latin typeface="Manrope" pitchFamily="34" charset="0"/>
                <a:ea typeface="Manrope" pitchFamily="34" charset="-122"/>
                <a:cs typeface="Manrope" pitchFamily="34" charset="-120"/>
              </a:rPr>
              <a:t> The highest average incomes are found in specific technical sectors: Environmental Techs, Software Engineers, and Desktop Support Technicians (Avg ~$250k).</a:t>
            </a:r>
            <a:endParaRPr lang="en-US" sz="1200" dirty="0"/>
          </a:p>
        </p:txBody>
      </p:sp>
      <p:sp>
        <p:nvSpPr>
          <p:cNvPr id="10" name="Text 7"/>
          <p:cNvSpPr/>
          <p:nvPr/>
        </p:nvSpPr>
        <p:spPr>
          <a:xfrm>
            <a:off x="539353" y="4931450"/>
            <a:ext cx="8065294" cy="739378"/>
          </a:xfrm>
          <a:prstGeom prst="rect">
            <a:avLst/>
          </a:prstGeom>
          <a:noFill/>
          <a:ln/>
        </p:spPr>
        <p:txBody>
          <a:bodyPr wrap="square" lIns="0" tIns="0" rIns="0" bIns="0" rtlCol="0" anchor="t"/>
          <a:lstStyle/>
          <a:p>
            <a:pPr marL="342900" indent="-342900" algn="l">
              <a:lnSpc>
                <a:spcPts val="1900"/>
              </a:lnSpc>
              <a:buSzPct val="100000"/>
              <a:buChar char="•"/>
            </a:pPr>
            <a:r>
              <a:rPr lang="en-US" sz="1200" b="1" dirty="0">
                <a:latin typeface="Manrope" pitchFamily="34" charset="0"/>
                <a:ea typeface="Manrope" pitchFamily="34" charset="-122"/>
                <a:cs typeface="Manrope" pitchFamily="34" charset="-120"/>
              </a:rPr>
              <a:t>Age Misconception:</a:t>
            </a:r>
            <a:r>
              <a:rPr lang="en-US" sz="1200" dirty="0">
                <a:latin typeface="Manrope" pitchFamily="34" charset="0"/>
                <a:ea typeface="Manrope" pitchFamily="34" charset="-122"/>
                <a:cs typeface="Manrope" pitchFamily="34" charset="-120"/>
              </a:rPr>
              <a:t> Wealth is not strictly tied to age. The median asset value is consistent across 'Young Adults' and 'Seniors', implying that marketing for wealth management should not target age, but rather income behavior.</a:t>
            </a:r>
            <a:endParaRPr lang="en-US" sz="1200" dirty="0"/>
          </a:p>
        </p:txBody>
      </p:sp>
      <p:sp>
        <p:nvSpPr>
          <p:cNvPr id="11" name="Text 8"/>
          <p:cNvSpPr/>
          <p:nvPr/>
        </p:nvSpPr>
        <p:spPr>
          <a:xfrm>
            <a:off x="539353" y="5901928"/>
            <a:ext cx="3082409" cy="385286"/>
          </a:xfrm>
          <a:prstGeom prst="rect">
            <a:avLst/>
          </a:prstGeom>
          <a:noFill/>
          <a:ln/>
        </p:spPr>
        <p:txBody>
          <a:bodyPr wrap="none" lIns="0" tIns="0" rIns="0" bIns="0" rtlCol="0" anchor="t"/>
          <a:lstStyle/>
          <a:p>
            <a:pPr marL="0" indent="0" algn="l">
              <a:lnSpc>
                <a:spcPts val="3000"/>
              </a:lnSpc>
              <a:buNone/>
            </a:pPr>
            <a:r>
              <a:rPr lang="en-US" sz="2400" dirty="0">
                <a:latin typeface="Alexandria Medium" pitchFamily="34" charset="0"/>
                <a:ea typeface="Alexandria Medium" pitchFamily="34" charset="-122"/>
                <a:cs typeface="Alexandria Medium" pitchFamily="34" charset="-120"/>
              </a:rPr>
              <a:t>III. Loyalty &amp; Tenure</a:t>
            </a:r>
            <a:endParaRPr lang="en-US" sz="2400" dirty="0"/>
          </a:p>
        </p:txBody>
      </p:sp>
      <p:sp>
        <p:nvSpPr>
          <p:cNvPr id="12" name="Text 9"/>
          <p:cNvSpPr/>
          <p:nvPr/>
        </p:nvSpPr>
        <p:spPr>
          <a:xfrm>
            <a:off x="539353" y="6518315"/>
            <a:ext cx="8065294" cy="492919"/>
          </a:xfrm>
          <a:prstGeom prst="rect">
            <a:avLst/>
          </a:prstGeom>
          <a:noFill/>
          <a:ln/>
        </p:spPr>
        <p:txBody>
          <a:bodyPr wrap="square" lIns="0" tIns="0" rIns="0" bIns="0" rtlCol="0" anchor="t"/>
          <a:lstStyle/>
          <a:p>
            <a:pPr marL="342900" indent="-342900" algn="l">
              <a:lnSpc>
                <a:spcPts val="1900"/>
              </a:lnSpc>
              <a:buSzPct val="100000"/>
              <a:buChar char="•"/>
            </a:pPr>
            <a:r>
              <a:rPr lang="en-US" sz="1200" b="1" dirty="0">
                <a:latin typeface="Manrope" pitchFamily="34" charset="0"/>
                <a:ea typeface="Manrope" pitchFamily="34" charset="-122"/>
                <a:cs typeface="Manrope" pitchFamily="34" charset="-120"/>
              </a:rPr>
              <a:t>Tier Saturation:</a:t>
            </a:r>
            <a:r>
              <a:rPr lang="en-US" sz="1200" dirty="0">
                <a:latin typeface="Manrope" pitchFamily="34" charset="0"/>
                <a:ea typeface="Manrope" pitchFamily="34" charset="-122"/>
                <a:cs typeface="Manrope" pitchFamily="34" charset="-120"/>
              </a:rPr>
              <a:t> With nearly half the customers in the top 'Jade' tier, the exclusivity of the reward program is diluted.</a:t>
            </a:r>
            <a:endParaRPr lang="en-US" sz="1200" dirty="0"/>
          </a:p>
        </p:txBody>
      </p:sp>
      <p:sp>
        <p:nvSpPr>
          <p:cNvPr id="13" name="Text 10"/>
          <p:cNvSpPr/>
          <p:nvPr/>
        </p:nvSpPr>
        <p:spPr>
          <a:xfrm>
            <a:off x="539353" y="7065169"/>
            <a:ext cx="8065294" cy="739378"/>
          </a:xfrm>
          <a:prstGeom prst="rect">
            <a:avLst/>
          </a:prstGeom>
          <a:noFill/>
          <a:ln/>
        </p:spPr>
        <p:txBody>
          <a:bodyPr wrap="square" lIns="0" tIns="0" rIns="0" bIns="0" rtlCol="0" anchor="t"/>
          <a:lstStyle/>
          <a:p>
            <a:pPr marL="342900" indent="-342900" algn="l">
              <a:lnSpc>
                <a:spcPts val="1900"/>
              </a:lnSpc>
              <a:buSzPct val="100000"/>
              <a:buChar char="•"/>
            </a:pPr>
            <a:r>
              <a:rPr lang="en-US" sz="1200" b="1" dirty="0">
                <a:latin typeface="Manrope" pitchFamily="34" charset="0"/>
                <a:ea typeface="Manrope" pitchFamily="34" charset="-122"/>
                <a:cs typeface="Manrope" pitchFamily="34" charset="-120"/>
              </a:rPr>
              <a:t>VIP Retention:</a:t>
            </a:r>
            <a:r>
              <a:rPr lang="en-US" sz="1200" dirty="0">
                <a:latin typeface="Manrope" pitchFamily="34" charset="0"/>
                <a:ea typeface="Manrope" pitchFamily="34" charset="-122"/>
                <a:cs typeface="Manrope" pitchFamily="34" charset="-120"/>
              </a:rPr>
              <a:t> Violin plot analysis showed that VIP customers do not have significantly longer tenure than standard customers. High-net-worth clients are not necessarily long-term loyalists; they are likely chasing rates.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656040"/>
            <a:ext cx="11192113" cy="708779"/>
          </a:xfrm>
          <a:prstGeom prst="rect">
            <a:avLst/>
          </a:prstGeom>
          <a:noFill/>
          <a:ln/>
        </p:spPr>
        <p:txBody>
          <a:bodyPr wrap="none" lIns="0" tIns="0" rIns="0" bIns="0" rtlCol="0" anchor="t"/>
          <a:lstStyle/>
          <a:p>
            <a:pPr marL="0" indent="0" algn="l">
              <a:lnSpc>
                <a:spcPts val="5550"/>
              </a:lnSpc>
              <a:buNone/>
            </a:pPr>
            <a:r>
              <a:rPr lang="en-US" sz="4450" b="1" dirty="0">
                <a:latin typeface="Alexandria Medium" pitchFamily="34" charset="0"/>
                <a:ea typeface="Alexandria Medium" pitchFamily="34" charset="-122"/>
                <a:cs typeface="Alexandria Medium" pitchFamily="34" charset="-120"/>
              </a:rPr>
              <a:t>Visual Evidence (Dashboard Highlights)</a:t>
            </a:r>
            <a:endParaRPr lang="en-US" sz="4450" b="1" dirty="0"/>
          </a:p>
        </p:txBody>
      </p:sp>
      <p:sp>
        <p:nvSpPr>
          <p:cNvPr id="3" name="Text 1"/>
          <p:cNvSpPr/>
          <p:nvPr/>
        </p:nvSpPr>
        <p:spPr>
          <a:xfrm>
            <a:off x="793790" y="2818448"/>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5B6E8C"/>
                </a:solidFill>
                <a:latin typeface="Manrope" pitchFamily="34" charset="0"/>
                <a:ea typeface="Manrope" pitchFamily="34" charset="-122"/>
                <a:cs typeface="Manrope" pitchFamily="34" charset="-120"/>
              </a:rPr>
              <a:t>The Power BI Dashboard created for this project visualizes these trends across three pages:</a:t>
            </a:r>
            <a:endParaRPr lang="en-US" sz="1750" dirty="0"/>
          </a:p>
        </p:txBody>
      </p:sp>
      <p:sp>
        <p:nvSpPr>
          <p:cNvPr id="4" name="Shape 2"/>
          <p:cNvSpPr/>
          <p:nvPr/>
        </p:nvSpPr>
        <p:spPr>
          <a:xfrm>
            <a:off x="793790" y="3436501"/>
            <a:ext cx="4196358" cy="3137059"/>
          </a:xfrm>
          <a:prstGeom prst="roundRect">
            <a:avLst>
              <a:gd name="adj" fmla="val 10846"/>
            </a:avLst>
          </a:prstGeom>
          <a:solidFill>
            <a:srgbClr val="FFFFFF"/>
          </a:solidFill>
          <a:ln w="30480">
            <a:solidFill>
              <a:srgbClr val="B3D5E4"/>
            </a:solidFill>
            <a:prstDash val="solid"/>
          </a:ln>
        </p:spPr>
      </p:sp>
      <p:sp>
        <p:nvSpPr>
          <p:cNvPr id="5" name="Shape 3"/>
          <p:cNvSpPr/>
          <p:nvPr/>
        </p:nvSpPr>
        <p:spPr>
          <a:xfrm>
            <a:off x="824270" y="3466981"/>
            <a:ext cx="4135398" cy="680442"/>
          </a:xfrm>
          <a:prstGeom prst="roundRect">
            <a:avLst>
              <a:gd name="adj" fmla="val 44628"/>
            </a:avLst>
          </a:prstGeom>
          <a:solidFill>
            <a:srgbClr val="E6F7FF"/>
          </a:solidFill>
          <a:ln/>
        </p:spPr>
      </p:sp>
      <p:sp>
        <p:nvSpPr>
          <p:cNvPr id="6" name="Text 4"/>
          <p:cNvSpPr/>
          <p:nvPr/>
        </p:nvSpPr>
        <p:spPr>
          <a:xfrm>
            <a:off x="2721888" y="3590687"/>
            <a:ext cx="340162" cy="425291"/>
          </a:xfrm>
          <a:prstGeom prst="rect">
            <a:avLst/>
          </a:prstGeom>
          <a:noFill/>
          <a:ln/>
        </p:spPr>
        <p:txBody>
          <a:bodyPr wrap="none" lIns="0" tIns="0" rIns="0" bIns="0" rtlCol="0" anchor="t"/>
          <a:lstStyle/>
          <a:p>
            <a:pPr marL="0" indent="0" algn="l">
              <a:lnSpc>
                <a:spcPts val="2650"/>
              </a:lnSpc>
              <a:buNone/>
            </a:pPr>
            <a:r>
              <a:rPr lang="en-US" sz="2650" dirty="0">
                <a:solidFill>
                  <a:srgbClr val="000000"/>
                </a:solidFill>
                <a:latin typeface="Alexandria Medium" pitchFamily="34" charset="0"/>
                <a:ea typeface="Alexandria Medium" pitchFamily="34" charset="-122"/>
                <a:cs typeface="Alexandria Medium" pitchFamily="34" charset="-120"/>
              </a:rPr>
              <a:t>1</a:t>
            </a:r>
            <a:endParaRPr lang="en-US" sz="2650" dirty="0"/>
          </a:p>
        </p:txBody>
      </p:sp>
      <p:sp>
        <p:nvSpPr>
          <p:cNvPr id="7" name="Text 5"/>
          <p:cNvSpPr/>
          <p:nvPr/>
        </p:nvSpPr>
        <p:spPr>
          <a:xfrm>
            <a:off x="1051084" y="437423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B6E8C"/>
                </a:solidFill>
                <a:latin typeface="Alexandria Medium" pitchFamily="34" charset="0"/>
                <a:ea typeface="Alexandria Medium" pitchFamily="34" charset="-122"/>
                <a:cs typeface="Alexandria Medium" pitchFamily="34" charset="-120"/>
              </a:rPr>
              <a:t>Executive Overview</a:t>
            </a:r>
            <a:endParaRPr lang="en-US" sz="2200" dirty="0"/>
          </a:p>
        </p:txBody>
      </p:sp>
      <p:sp>
        <p:nvSpPr>
          <p:cNvPr id="8" name="Text 6"/>
          <p:cNvSpPr/>
          <p:nvPr/>
        </p:nvSpPr>
        <p:spPr>
          <a:xfrm>
            <a:off x="1051084" y="4864656"/>
            <a:ext cx="3681770" cy="1451610"/>
          </a:xfrm>
          <a:prstGeom prst="rect">
            <a:avLst/>
          </a:prstGeom>
          <a:noFill/>
          <a:ln/>
        </p:spPr>
        <p:txBody>
          <a:bodyPr wrap="square" lIns="0" tIns="0" rIns="0" bIns="0" rtlCol="0" anchor="t"/>
          <a:lstStyle/>
          <a:p>
            <a:pPr marL="0" indent="0" algn="l">
              <a:lnSpc>
                <a:spcPts val="2850"/>
              </a:lnSpc>
              <a:buNone/>
            </a:pPr>
            <a:r>
              <a:rPr lang="en-US" sz="1750" dirty="0">
                <a:solidFill>
                  <a:srgbClr val="5B6E8C"/>
                </a:solidFill>
                <a:latin typeface="Manrope" pitchFamily="34" charset="0"/>
                <a:ea typeface="Manrope" pitchFamily="34" charset="-122"/>
                <a:cs typeface="Manrope" pitchFamily="34" charset="-120"/>
              </a:rPr>
              <a:t>Displays the KPI of $2.01B in Total Assets vs. $2.6B in Liabilities, highlighting the leverage gap immediately.</a:t>
            </a:r>
            <a:endParaRPr lang="en-US" sz="1750" dirty="0"/>
          </a:p>
        </p:txBody>
      </p:sp>
      <p:sp>
        <p:nvSpPr>
          <p:cNvPr id="9" name="Shape 7"/>
          <p:cNvSpPr/>
          <p:nvPr/>
        </p:nvSpPr>
        <p:spPr>
          <a:xfrm>
            <a:off x="5216962" y="3436501"/>
            <a:ext cx="4196358" cy="3137059"/>
          </a:xfrm>
          <a:prstGeom prst="roundRect">
            <a:avLst>
              <a:gd name="adj" fmla="val 10846"/>
            </a:avLst>
          </a:prstGeom>
          <a:solidFill>
            <a:srgbClr val="FFFFFF"/>
          </a:solidFill>
          <a:ln w="30480">
            <a:solidFill>
              <a:srgbClr val="B3D5E4"/>
            </a:solidFill>
            <a:prstDash val="solid"/>
          </a:ln>
        </p:spPr>
      </p:sp>
      <p:sp>
        <p:nvSpPr>
          <p:cNvPr id="10" name="Shape 8"/>
          <p:cNvSpPr/>
          <p:nvPr/>
        </p:nvSpPr>
        <p:spPr>
          <a:xfrm>
            <a:off x="5247442" y="3466981"/>
            <a:ext cx="4135398" cy="680442"/>
          </a:xfrm>
          <a:prstGeom prst="roundRect">
            <a:avLst>
              <a:gd name="adj" fmla="val 44628"/>
            </a:avLst>
          </a:prstGeom>
          <a:solidFill>
            <a:srgbClr val="E6F7FF"/>
          </a:solidFill>
          <a:ln/>
        </p:spPr>
      </p:sp>
      <p:sp>
        <p:nvSpPr>
          <p:cNvPr id="11" name="Text 9"/>
          <p:cNvSpPr/>
          <p:nvPr/>
        </p:nvSpPr>
        <p:spPr>
          <a:xfrm>
            <a:off x="7145060" y="3590687"/>
            <a:ext cx="340162" cy="425291"/>
          </a:xfrm>
          <a:prstGeom prst="rect">
            <a:avLst/>
          </a:prstGeom>
          <a:noFill/>
          <a:ln/>
        </p:spPr>
        <p:txBody>
          <a:bodyPr wrap="none" lIns="0" tIns="0" rIns="0" bIns="0" rtlCol="0" anchor="t"/>
          <a:lstStyle/>
          <a:p>
            <a:pPr marL="0" indent="0" algn="l">
              <a:lnSpc>
                <a:spcPts val="2650"/>
              </a:lnSpc>
              <a:buNone/>
            </a:pPr>
            <a:r>
              <a:rPr lang="en-US" sz="2650" dirty="0">
                <a:solidFill>
                  <a:srgbClr val="000000"/>
                </a:solidFill>
                <a:latin typeface="Alexandria Medium" pitchFamily="34" charset="0"/>
                <a:ea typeface="Alexandria Medium" pitchFamily="34" charset="-122"/>
                <a:cs typeface="Alexandria Medium" pitchFamily="34" charset="-120"/>
              </a:rPr>
              <a:t>2</a:t>
            </a:r>
            <a:endParaRPr lang="en-US" sz="2650" dirty="0"/>
          </a:p>
        </p:txBody>
      </p:sp>
      <p:sp>
        <p:nvSpPr>
          <p:cNvPr id="12" name="Text 10"/>
          <p:cNvSpPr/>
          <p:nvPr/>
        </p:nvSpPr>
        <p:spPr>
          <a:xfrm>
            <a:off x="5474256" y="437423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5B6E8C"/>
                </a:solidFill>
                <a:latin typeface="Alexandria Medium" pitchFamily="34" charset="0"/>
                <a:ea typeface="Alexandria Medium" pitchFamily="34" charset="-122"/>
                <a:cs typeface="Alexandria Medium" pitchFamily="34" charset="-120"/>
              </a:rPr>
              <a:t>Risk Monitor</a:t>
            </a:r>
            <a:endParaRPr lang="en-US" sz="2200" dirty="0"/>
          </a:p>
        </p:txBody>
      </p:sp>
      <p:sp>
        <p:nvSpPr>
          <p:cNvPr id="13" name="Text 11"/>
          <p:cNvSpPr/>
          <p:nvPr/>
        </p:nvSpPr>
        <p:spPr>
          <a:xfrm>
            <a:off x="5474256" y="4864656"/>
            <a:ext cx="3681770" cy="1088708"/>
          </a:xfrm>
          <a:prstGeom prst="rect">
            <a:avLst/>
          </a:prstGeom>
          <a:noFill/>
          <a:ln/>
        </p:spPr>
        <p:txBody>
          <a:bodyPr wrap="square" lIns="0" tIns="0" rIns="0" bIns="0" rtlCol="0" anchor="t"/>
          <a:lstStyle/>
          <a:p>
            <a:pPr marL="0" indent="0" algn="l">
              <a:lnSpc>
                <a:spcPts val="2850"/>
              </a:lnSpc>
              <a:buNone/>
            </a:pPr>
            <a:r>
              <a:rPr lang="en-US" sz="1750" dirty="0">
                <a:solidFill>
                  <a:srgbClr val="5B6E8C"/>
                </a:solidFill>
                <a:latin typeface="Manrope" pitchFamily="34" charset="0"/>
                <a:ea typeface="Manrope" pitchFamily="34" charset="-122"/>
                <a:cs typeface="Manrope" pitchFamily="34" charset="-120"/>
              </a:rPr>
              <a:t>Features a "Red Zone" scatter plot identifying the 61% of over-leveraged clients.</a:t>
            </a:r>
            <a:endParaRPr lang="en-US" sz="1750" dirty="0"/>
          </a:p>
        </p:txBody>
      </p:sp>
      <p:sp>
        <p:nvSpPr>
          <p:cNvPr id="14" name="Shape 12"/>
          <p:cNvSpPr/>
          <p:nvPr/>
        </p:nvSpPr>
        <p:spPr>
          <a:xfrm>
            <a:off x="9640133" y="3436501"/>
            <a:ext cx="4196358" cy="3137059"/>
          </a:xfrm>
          <a:prstGeom prst="roundRect">
            <a:avLst>
              <a:gd name="adj" fmla="val 10846"/>
            </a:avLst>
          </a:prstGeom>
          <a:solidFill>
            <a:srgbClr val="FFFFFF"/>
          </a:solidFill>
          <a:ln w="30480">
            <a:solidFill>
              <a:srgbClr val="B3D5E4"/>
            </a:solidFill>
            <a:prstDash val="solid"/>
          </a:ln>
        </p:spPr>
      </p:sp>
      <p:sp>
        <p:nvSpPr>
          <p:cNvPr id="15" name="Shape 13"/>
          <p:cNvSpPr/>
          <p:nvPr/>
        </p:nvSpPr>
        <p:spPr>
          <a:xfrm>
            <a:off x="9670613" y="3466981"/>
            <a:ext cx="4135398" cy="680442"/>
          </a:xfrm>
          <a:prstGeom prst="roundRect">
            <a:avLst>
              <a:gd name="adj" fmla="val 44628"/>
            </a:avLst>
          </a:prstGeom>
          <a:solidFill>
            <a:srgbClr val="E6F7FF"/>
          </a:solidFill>
          <a:ln/>
        </p:spPr>
      </p:sp>
      <p:sp>
        <p:nvSpPr>
          <p:cNvPr id="16" name="Text 14"/>
          <p:cNvSpPr/>
          <p:nvPr/>
        </p:nvSpPr>
        <p:spPr>
          <a:xfrm>
            <a:off x="11568232" y="3590687"/>
            <a:ext cx="340162" cy="425291"/>
          </a:xfrm>
          <a:prstGeom prst="rect">
            <a:avLst/>
          </a:prstGeom>
          <a:noFill/>
          <a:ln/>
        </p:spPr>
        <p:txBody>
          <a:bodyPr wrap="none" lIns="0" tIns="0" rIns="0" bIns="0" rtlCol="0" anchor="t"/>
          <a:lstStyle/>
          <a:p>
            <a:pPr marL="0" indent="0" algn="l">
              <a:lnSpc>
                <a:spcPts val="2650"/>
              </a:lnSpc>
              <a:buNone/>
            </a:pPr>
            <a:r>
              <a:rPr lang="en-US" sz="2650" dirty="0">
                <a:solidFill>
                  <a:srgbClr val="000000"/>
                </a:solidFill>
                <a:latin typeface="Alexandria Medium" pitchFamily="34" charset="0"/>
                <a:ea typeface="Alexandria Medium" pitchFamily="34" charset="-122"/>
                <a:cs typeface="Alexandria Medium" pitchFamily="34" charset="-120"/>
              </a:rPr>
              <a:t>3</a:t>
            </a:r>
            <a:endParaRPr lang="en-US" sz="2650" dirty="0"/>
          </a:p>
        </p:txBody>
      </p:sp>
      <p:sp>
        <p:nvSpPr>
          <p:cNvPr id="17" name="Text 15"/>
          <p:cNvSpPr/>
          <p:nvPr/>
        </p:nvSpPr>
        <p:spPr>
          <a:xfrm>
            <a:off x="9897427" y="4374237"/>
            <a:ext cx="3497937" cy="354330"/>
          </a:xfrm>
          <a:prstGeom prst="rect">
            <a:avLst/>
          </a:prstGeom>
          <a:noFill/>
          <a:ln/>
        </p:spPr>
        <p:txBody>
          <a:bodyPr wrap="none" lIns="0" tIns="0" rIns="0" bIns="0" rtlCol="0" anchor="t"/>
          <a:lstStyle/>
          <a:p>
            <a:pPr marL="0" indent="0" algn="l">
              <a:lnSpc>
                <a:spcPts val="2750"/>
              </a:lnSpc>
              <a:buNone/>
            </a:pPr>
            <a:r>
              <a:rPr lang="en-US" sz="2200" dirty="0">
                <a:solidFill>
                  <a:srgbClr val="5B6E8C"/>
                </a:solidFill>
                <a:latin typeface="Alexandria Medium" pitchFamily="34" charset="0"/>
                <a:ea typeface="Alexandria Medium" pitchFamily="34" charset="-122"/>
                <a:cs typeface="Alexandria Medium" pitchFamily="34" charset="-120"/>
              </a:rPr>
              <a:t>Customer Segmentation</a:t>
            </a:r>
            <a:endParaRPr lang="en-US" sz="2200" dirty="0"/>
          </a:p>
        </p:txBody>
      </p:sp>
      <p:sp>
        <p:nvSpPr>
          <p:cNvPr id="18" name="Text 16"/>
          <p:cNvSpPr/>
          <p:nvPr/>
        </p:nvSpPr>
        <p:spPr>
          <a:xfrm>
            <a:off x="9897427" y="4864656"/>
            <a:ext cx="3681770" cy="1088708"/>
          </a:xfrm>
          <a:prstGeom prst="rect">
            <a:avLst/>
          </a:prstGeom>
          <a:noFill/>
          <a:ln/>
        </p:spPr>
        <p:txBody>
          <a:bodyPr wrap="square" lIns="0" tIns="0" rIns="0" bIns="0" rtlCol="0" anchor="t"/>
          <a:lstStyle/>
          <a:p>
            <a:pPr marL="0" indent="0" algn="l">
              <a:lnSpc>
                <a:spcPts val="2850"/>
              </a:lnSpc>
              <a:buNone/>
            </a:pPr>
            <a:r>
              <a:rPr lang="en-US" sz="1750" dirty="0">
                <a:solidFill>
                  <a:srgbClr val="5B6E8C"/>
                </a:solidFill>
                <a:latin typeface="Manrope" pitchFamily="34" charset="0"/>
                <a:ea typeface="Manrope" pitchFamily="34" charset="-122"/>
                <a:cs typeface="Manrope" pitchFamily="34" charset="-120"/>
              </a:rPr>
              <a:t>Uses a Tree Map (Top 5 Occupations) to show where the bank's salary inflows originate.</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32579" y="640556"/>
            <a:ext cx="6490930" cy="564713"/>
          </a:xfrm>
          <a:prstGeom prst="rect">
            <a:avLst/>
          </a:prstGeom>
          <a:noFill/>
          <a:ln/>
        </p:spPr>
        <p:txBody>
          <a:bodyPr wrap="none" lIns="0" tIns="0" rIns="0" bIns="0" rtlCol="0" anchor="t"/>
          <a:lstStyle/>
          <a:p>
            <a:pPr marL="0" indent="0" algn="l">
              <a:lnSpc>
                <a:spcPts val="4400"/>
              </a:lnSpc>
              <a:buNone/>
            </a:pPr>
            <a:r>
              <a:rPr lang="en-US" sz="3550" b="1" dirty="0">
                <a:latin typeface="Alexandria Medium" pitchFamily="34" charset="0"/>
                <a:ea typeface="Alexandria Medium" pitchFamily="34" charset="-122"/>
                <a:cs typeface="Alexandria Medium" pitchFamily="34" charset="-120"/>
              </a:rPr>
              <a:t>Strategic Recommendations</a:t>
            </a:r>
            <a:endParaRPr lang="en-US" sz="3550" b="1" dirty="0"/>
          </a:p>
        </p:txBody>
      </p:sp>
      <p:sp>
        <p:nvSpPr>
          <p:cNvPr id="3" name="Text 1"/>
          <p:cNvSpPr/>
          <p:nvPr/>
        </p:nvSpPr>
        <p:spPr>
          <a:xfrm>
            <a:off x="632579" y="1566743"/>
            <a:ext cx="13365242" cy="289084"/>
          </a:xfrm>
          <a:prstGeom prst="rect">
            <a:avLst/>
          </a:prstGeom>
          <a:noFill/>
          <a:ln/>
        </p:spPr>
        <p:txBody>
          <a:bodyPr wrap="none" lIns="0" tIns="0" rIns="0" bIns="0" rtlCol="0" anchor="t"/>
          <a:lstStyle/>
          <a:p>
            <a:pPr marL="0" indent="0" algn="l">
              <a:lnSpc>
                <a:spcPts val="2250"/>
              </a:lnSpc>
              <a:buNone/>
            </a:pPr>
            <a:r>
              <a:rPr lang="en-US" sz="1400" dirty="0">
                <a:solidFill>
                  <a:srgbClr val="5B6E8C"/>
                </a:solidFill>
                <a:latin typeface="Manrope" pitchFamily="34" charset="0"/>
                <a:ea typeface="Manrope" pitchFamily="34" charset="-122"/>
                <a:cs typeface="Manrope" pitchFamily="34" charset="-120"/>
              </a:rPr>
              <a:t>Based on the data, the following actions are recommended for the bank's management:</a:t>
            </a:r>
            <a:endParaRPr lang="en-US" sz="1400" dirty="0"/>
          </a:p>
        </p:txBody>
      </p:sp>
      <p:sp>
        <p:nvSpPr>
          <p:cNvPr id="4" name="Text 2"/>
          <p:cNvSpPr/>
          <p:nvPr/>
        </p:nvSpPr>
        <p:spPr>
          <a:xfrm>
            <a:off x="632579" y="2126933"/>
            <a:ext cx="3614738" cy="459462"/>
          </a:xfrm>
          <a:prstGeom prst="rect">
            <a:avLst/>
          </a:prstGeom>
          <a:noFill/>
          <a:ln/>
        </p:spPr>
        <p:txBody>
          <a:bodyPr wrap="none" lIns="0" tIns="0" rIns="0" bIns="0" rtlCol="0" anchor="t"/>
          <a:lstStyle/>
          <a:p>
            <a:pPr marL="0" indent="0" algn="l">
              <a:lnSpc>
                <a:spcPts val="3550"/>
              </a:lnSpc>
              <a:buNone/>
            </a:pPr>
            <a:r>
              <a:rPr lang="en-US" sz="2800" dirty="0">
                <a:solidFill>
                  <a:srgbClr val="000000"/>
                </a:solidFill>
                <a:latin typeface="Alexandria Medium" pitchFamily="34" charset="0"/>
                <a:ea typeface="Alexandria Medium" pitchFamily="34" charset="-122"/>
                <a:cs typeface="Alexandria Medium" pitchFamily="34" charset="-120"/>
              </a:rPr>
              <a:t>📉</a:t>
            </a:r>
            <a:r>
              <a:rPr lang="en-US" sz="2800" dirty="0">
                <a:solidFill>
                  <a:srgbClr val="5B6E8C"/>
                </a:solidFill>
                <a:latin typeface="Alexandria Medium" pitchFamily="34" charset="0"/>
                <a:ea typeface="Alexandria Medium" pitchFamily="34" charset="-122"/>
                <a:cs typeface="Alexandria Medium" pitchFamily="34" charset="-120"/>
              </a:rPr>
              <a:t> Risk Mitigation</a:t>
            </a:r>
            <a:endParaRPr lang="en-US" sz="2800" dirty="0"/>
          </a:p>
        </p:txBody>
      </p:sp>
      <p:sp>
        <p:nvSpPr>
          <p:cNvPr id="5" name="Text 3"/>
          <p:cNvSpPr/>
          <p:nvPr/>
        </p:nvSpPr>
        <p:spPr>
          <a:xfrm>
            <a:off x="632579" y="2857500"/>
            <a:ext cx="13365242" cy="578168"/>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5B6E8C"/>
                </a:solidFill>
                <a:latin typeface="Manrope" pitchFamily="34" charset="0"/>
                <a:ea typeface="Manrope" pitchFamily="34" charset="-122"/>
                <a:cs typeface="Manrope" pitchFamily="34" charset="-120"/>
              </a:rPr>
              <a:t>Deposit Campaigns for High-Risk Segment:</a:t>
            </a:r>
            <a:r>
              <a:rPr lang="en-US" sz="1400" dirty="0">
                <a:solidFill>
                  <a:srgbClr val="5B6E8C"/>
                </a:solidFill>
                <a:latin typeface="Manrope" pitchFamily="34" charset="0"/>
                <a:ea typeface="Manrope" pitchFamily="34" charset="-122"/>
                <a:cs typeface="Manrope" pitchFamily="34" charset="-120"/>
              </a:rPr>
              <a:t> Target the "High Churn Risk" group (High Income, High Debt) with aggressive Term Deposit or High-Yield Savings offers to balance their Debt-to-Asset ratio.</a:t>
            </a:r>
            <a:endParaRPr lang="en-US" sz="1400" dirty="0"/>
          </a:p>
        </p:txBody>
      </p:sp>
      <p:sp>
        <p:nvSpPr>
          <p:cNvPr id="6" name="Text 4"/>
          <p:cNvSpPr/>
          <p:nvPr/>
        </p:nvSpPr>
        <p:spPr>
          <a:xfrm>
            <a:off x="632579" y="3498890"/>
            <a:ext cx="13365242" cy="578168"/>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5B6E8C"/>
                </a:solidFill>
                <a:latin typeface="Manrope" pitchFamily="34" charset="0"/>
                <a:ea typeface="Manrope" pitchFamily="34" charset="-122"/>
                <a:cs typeface="Manrope" pitchFamily="34" charset="-120"/>
              </a:rPr>
              <a:t>Review Risk Models:</a:t>
            </a:r>
            <a:r>
              <a:rPr lang="en-US" sz="1400" dirty="0">
                <a:solidFill>
                  <a:srgbClr val="5B6E8C"/>
                </a:solidFill>
                <a:latin typeface="Manrope" pitchFamily="34" charset="0"/>
                <a:ea typeface="Manrope" pitchFamily="34" charset="-122"/>
                <a:cs typeface="Manrope" pitchFamily="34" charset="-120"/>
              </a:rPr>
              <a:t> The disconnect between high leverage and low "Risk Weighting" scores suggests the internal risk model needs recalibration to account for total asset exposure.</a:t>
            </a:r>
            <a:endParaRPr lang="en-US" sz="1400" dirty="0"/>
          </a:p>
        </p:txBody>
      </p:sp>
      <p:sp>
        <p:nvSpPr>
          <p:cNvPr id="7" name="Text 5"/>
          <p:cNvSpPr/>
          <p:nvPr/>
        </p:nvSpPr>
        <p:spPr>
          <a:xfrm>
            <a:off x="632579" y="4348162"/>
            <a:ext cx="5087303" cy="459462"/>
          </a:xfrm>
          <a:prstGeom prst="rect">
            <a:avLst/>
          </a:prstGeom>
          <a:noFill/>
          <a:ln/>
        </p:spPr>
        <p:txBody>
          <a:bodyPr wrap="none" lIns="0" tIns="0" rIns="0" bIns="0" rtlCol="0" anchor="t"/>
          <a:lstStyle/>
          <a:p>
            <a:pPr marL="0" indent="0" algn="l">
              <a:lnSpc>
                <a:spcPts val="3550"/>
              </a:lnSpc>
              <a:buNone/>
            </a:pPr>
            <a:r>
              <a:rPr lang="en-US" sz="2800" dirty="0">
                <a:solidFill>
                  <a:srgbClr val="000000"/>
                </a:solidFill>
                <a:latin typeface="Alexandria Medium" pitchFamily="34" charset="0"/>
                <a:ea typeface="Alexandria Medium" pitchFamily="34" charset="-122"/>
                <a:cs typeface="Alexandria Medium" pitchFamily="34" charset="-120"/>
              </a:rPr>
              <a:t>💎</a:t>
            </a:r>
            <a:r>
              <a:rPr lang="en-US" sz="2800" dirty="0">
                <a:solidFill>
                  <a:srgbClr val="5B6E8C"/>
                </a:solidFill>
                <a:latin typeface="Alexandria Medium" pitchFamily="34" charset="0"/>
                <a:ea typeface="Alexandria Medium" pitchFamily="34" charset="-122"/>
                <a:cs typeface="Alexandria Medium" pitchFamily="34" charset="-120"/>
              </a:rPr>
              <a:t> Loyalty Program Revamp</a:t>
            </a:r>
            <a:endParaRPr lang="en-US" sz="2800" dirty="0"/>
          </a:p>
        </p:txBody>
      </p:sp>
      <p:sp>
        <p:nvSpPr>
          <p:cNvPr id="8" name="Text 6"/>
          <p:cNvSpPr/>
          <p:nvPr/>
        </p:nvSpPr>
        <p:spPr>
          <a:xfrm>
            <a:off x="632579" y="5078730"/>
            <a:ext cx="13365242" cy="289084"/>
          </a:xfrm>
          <a:prstGeom prst="rect">
            <a:avLst/>
          </a:prstGeom>
          <a:noFill/>
          <a:ln/>
        </p:spPr>
        <p:txBody>
          <a:bodyPr wrap="none" lIns="0" tIns="0" rIns="0" bIns="0" rtlCol="0" anchor="t"/>
          <a:lstStyle/>
          <a:p>
            <a:pPr marL="342900" indent="-342900" algn="l">
              <a:lnSpc>
                <a:spcPts val="2250"/>
              </a:lnSpc>
              <a:buSzPct val="100000"/>
              <a:buChar char="•"/>
            </a:pPr>
            <a:r>
              <a:rPr lang="en-US" sz="1400" b="1" dirty="0">
                <a:solidFill>
                  <a:srgbClr val="5B6E8C"/>
                </a:solidFill>
                <a:latin typeface="Manrope" pitchFamily="34" charset="0"/>
                <a:ea typeface="Manrope" pitchFamily="34" charset="-122"/>
                <a:cs typeface="Manrope" pitchFamily="34" charset="-120"/>
              </a:rPr>
              <a:t>Restructure 'Jade' Tier:</a:t>
            </a:r>
            <a:r>
              <a:rPr lang="en-US" sz="1400" dirty="0">
                <a:solidFill>
                  <a:srgbClr val="5B6E8C"/>
                </a:solidFill>
                <a:latin typeface="Manrope" pitchFamily="34" charset="0"/>
                <a:ea typeface="Manrope" pitchFamily="34" charset="-122"/>
                <a:cs typeface="Manrope" pitchFamily="34" charset="-120"/>
              </a:rPr>
              <a:t> The Jade tier is oversaturated. Introduce a 'Diamond' tier for the top 10% of customers to incentivize true high-value behavior.</a:t>
            </a:r>
            <a:endParaRPr lang="en-US" sz="1400" dirty="0"/>
          </a:p>
        </p:txBody>
      </p:sp>
      <p:sp>
        <p:nvSpPr>
          <p:cNvPr id="9" name="Text 7"/>
          <p:cNvSpPr/>
          <p:nvPr/>
        </p:nvSpPr>
        <p:spPr>
          <a:xfrm>
            <a:off x="632579" y="5431036"/>
            <a:ext cx="13365242" cy="578168"/>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5B6E8C"/>
                </a:solidFill>
                <a:latin typeface="Manrope" pitchFamily="34" charset="0"/>
                <a:ea typeface="Manrope" pitchFamily="34" charset="-122"/>
                <a:cs typeface="Manrope" pitchFamily="34" charset="-120"/>
              </a:rPr>
              <a:t>Tenure-Based Rewards:</a:t>
            </a:r>
            <a:r>
              <a:rPr lang="en-US" sz="1400" dirty="0">
                <a:solidFill>
                  <a:srgbClr val="5B6E8C"/>
                </a:solidFill>
                <a:latin typeface="Manrope" pitchFamily="34" charset="0"/>
                <a:ea typeface="Manrope" pitchFamily="34" charset="-122"/>
                <a:cs typeface="Manrope" pitchFamily="34" charset="-120"/>
              </a:rPr>
              <a:t> Since VIPs are leaving as fast as Standard clients, introduce "Milestone Rewards" (e.g., at Year 5, Year 10) to improve retention of wealthy clients.</a:t>
            </a:r>
            <a:endParaRPr lang="en-US" sz="1400" dirty="0"/>
          </a:p>
        </p:txBody>
      </p:sp>
      <p:sp>
        <p:nvSpPr>
          <p:cNvPr id="10" name="Text 8"/>
          <p:cNvSpPr/>
          <p:nvPr/>
        </p:nvSpPr>
        <p:spPr>
          <a:xfrm>
            <a:off x="632579" y="6280309"/>
            <a:ext cx="4117419" cy="459462"/>
          </a:xfrm>
          <a:prstGeom prst="rect">
            <a:avLst/>
          </a:prstGeom>
          <a:noFill/>
          <a:ln/>
        </p:spPr>
        <p:txBody>
          <a:bodyPr wrap="none" lIns="0" tIns="0" rIns="0" bIns="0" rtlCol="0" anchor="t"/>
          <a:lstStyle/>
          <a:p>
            <a:pPr marL="0" indent="0" algn="l">
              <a:lnSpc>
                <a:spcPts val="3550"/>
              </a:lnSpc>
              <a:buNone/>
            </a:pPr>
            <a:r>
              <a:rPr lang="en-US" sz="2800" dirty="0">
                <a:solidFill>
                  <a:srgbClr val="000000"/>
                </a:solidFill>
                <a:latin typeface="Alexandria Medium" pitchFamily="34" charset="0"/>
                <a:ea typeface="Alexandria Medium" pitchFamily="34" charset="-122"/>
                <a:cs typeface="Alexandria Medium" pitchFamily="34" charset="-120"/>
              </a:rPr>
              <a:t>🎯</a:t>
            </a:r>
            <a:r>
              <a:rPr lang="en-US" sz="2800" dirty="0">
                <a:solidFill>
                  <a:srgbClr val="5B6E8C"/>
                </a:solidFill>
                <a:latin typeface="Alexandria Medium" pitchFamily="34" charset="0"/>
                <a:ea typeface="Alexandria Medium" pitchFamily="34" charset="-122"/>
                <a:cs typeface="Alexandria Medium" pitchFamily="34" charset="-120"/>
              </a:rPr>
              <a:t> Targeted Marketing</a:t>
            </a:r>
            <a:endParaRPr lang="en-US" sz="2800" dirty="0"/>
          </a:p>
        </p:txBody>
      </p:sp>
      <p:sp>
        <p:nvSpPr>
          <p:cNvPr id="11" name="Text 9"/>
          <p:cNvSpPr/>
          <p:nvPr/>
        </p:nvSpPr>
        <p:spPr>
          <a:xfrm>
            <a:off x="632579" y="7010876"/>
            <a:ext cx="13365242" cy="578168"/>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5B6E8C"/>
                </a:solidFill>
                <a:latin typeface="Manrope" pitchFamily="34" charset="0"/>
                <a:ea typeface="Manrope" pitchFamily="34" charset="-122"/>
                <a:cs typeface="Manrope" pitchFamily="34" charset="-120"/>
              </a:rPr>
              <a:t>Occupation-Based Lending:</a:t>
            </a:r>
            <a:r>
              <a:rPr lang="en-US" sz="1400" dirty="0">
                <a:solidFill>
                  <a:srgbClr val="5B6E8C"/>
                </a:solidFill>
                <a:latin typeface="Manrope" pitchFamily="34" charset="0"/>
                <a:ea typeface="Manrope" pitchFamily="34" charset="-122"/>
                <a:cs typeface="Manrope" pitchFamily="34" charset="-120"/>
              </a:rPr>
              <a:t> Create specialized mortgage or business loan packages for Environmental Techs and Software Engineers, as they are proven high-income earners with stable cash flows.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3150870"/>
            <a:ext cx="10291167" cy="708779"/>
          </a:xfrm>
          <a:prstGeom prst="rect">
            <a:avLst/>
          </a:prstGeom>
          <a:noFill/>
          <a:ln/>
        </p:spPr>
        <p:txBody>
          <a:bodyPr wrap="none" lIns="0" tIns="0" rIns="0" bIns="0" rtlCol="0" anchor="t"/>
          <a:lstStyle/>
          <a:p>
            <a:pPr marL="0" indent="0" algn="l">
              <a:lnSpc>
                <a:spcPts val="5550"/>
              </a:lnSpc>
              <a:buNone/>
            </a:pPr>
            <a:r>
              <a:rPr lang="en-US" sz="4450" dirty="0">
                <a:latin typeface="Alexandria Medium" pitchFamily="34" charset="0"/>
                <a:ea typeface="Alexandria Medium" pitchFamily="34" charset="-122"/>
                <a:cs typeface="Alexandria Medium" pitchFamily="34" charset="-120"/>
              </a:rPr>
              <a:t>Technical Appendix (Code Snippets</a:t>
            </a:r>
            <a:r>
              <a:rPr lang="en-US" sz="4450" dirty="0">
                <a:solidFill>
                  <a:srgbClr val="D4CCFA"/>
                </a:solidFill>
                <a:latin typeface="Alexandria Medium" pitchFamily="34" charset="0"/>
                <a:ea typeface="Alexandria Medium" pitchFamily="34" charset="-122"/>
                <a:cs typeface="Alexandria Medium" pitchFamily="34" charset="-120"/>
              </a:rPr>
              <a:t>)</a:t>
            </a:r>
            <a:endParaRPr lang="en-US" sz="4450" dirty="0"/>
          </a:p>
        </p:txBody>
      </p:sp>
      <p:sp>
        <p:nvSpPr>
          <p:cNvPr id="3" name="Text 1"/>
          <p:cNvSpPr/>
          <p:nvPr/>
        </p:nvSpPr>
        <p:spPr>
          <a:xfrm>
            <a:off x="793790" y="3950375"/>
            <a:ext cx="4468058" cy="425291"/>
          </a:xfrm>
          <a:prstGeom prst="rect">
            <a:avLst/>
          </a:prstGeom>
          <a:noFill/>
          <a:ln/>
        </p:spPr>
        <p:txBody>
          <a:bodyPr wrap="none" lIns="0" tIns="0" rIns="0" bIns="0" rtlCol="0" anchor="t"/>
          <a:lstStyle/>
          <a:p>
            <a:pPr marL="0" indent="0" algn="l">
              <a:lnSpc>
                <a:spcPts val="3300"/>
              </a:lnSpc>
              <a:buNone/>
            </a:pPr>
            <a:r>
              <a:rPr lang="en-US" sz="2650" dirty="0">
                <a:solidFill>
                  <a:srgbClr val="5B6E8C"/>
                </a:solidFill>
                <a:latin typeface="Alexandria Medium" pitchFamily="34" charset="0"/>
                <a:ea typeface="Alexandria Medium" pitchFamily="34" charset="-122"/>
                <a:cs typeface="Alexandria Medium" pitchFamily="34" charset="-120"/>
              </a:rPr>
              <a:t>Churn Risk Logic (Python):</a:t>
            </a:r>
            <a:endParaRPr lang="en-US" sz="2650" dirty="0"/>
          </a:p>
        </p:txBody>
      </p:sp>
      <p:sp>
        <p:nvSpPr>
          <p:cNvPr id="4" name="Text 2"/>
          <p:cNvSpPr/>
          <p:nvPr/>
        </p:nvSpPr>
        <p:spPr>
          <a:xfrm>
            <a:off x="793790" y="4715828"/>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5B6E8C"/>
                </a:solidFill>
                <a:latin typeface="Manrope" pitchFamily="34" charset="0"/>
                <a:ea typeface="Manrope" pitchFamily="34" charset="-122"/>
                <a:cs typeface="Manrope" pitchFamily="34" charset="-120"/>
              </a:rPr>
              <a:t>Python</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93790" y="2187059"/>
            <a:ext cx="13042821" cy="1428750"/>
          </a:xfrm>
          <a:prstGeom prst="roundRect">
            <a:avLst>
              <a:gd name="adj" fmla="val 23814"/>
            </a:avLst>
          </a:prstGeom>
          <a:solidFill>
            <a:srgbClr val="F2F2F2"/>
          </a:solidFill>
          <a:ln/>
        </p:spPr>
      </p:sp>
      <p:sp>
        <p:nvSpPr>
          <p:cNvPr id="3" name="Shape 1"/>
          <p:cNvSpPr/>
          <p:nvPr/>
        </p:nvSpPr>
        <p:spPr>
          <a:xfrm>
            <a:off x="782479" y="2187059"/>
            <a:ext cx="13065443" cy="1428750"/>
          </a:xfrm>
          <a:prstGeom prst="roundRect">
            <a:avLst>
              <a:gd name="adj" fmla="val 2381"/>
            </a:avLst>
          </a:prstGeom>
          <a:solidFill>
            <a:srgbClr val="F2F2F2"/>
          </a:solidFill>
          <a:ln/>
        </p:spPr>
      </p:sp>
      <p:sp>
        <p:nvSpPr>
          <p:cNvPr id="4" name="Text 2"/>
          <p:cNvSpPr/>
          <p:nvPr/>
        </p:nvSpPr>
        <p:spPr>
          <a:xfrm>
            <a:off x="1009293" y="2357080"/>
            <a:ext cx="12611814" cy="1088708"/>
          </a:xfrm>
          <a:prstGeom prst="rect">
            <a:avLst/>
          </a:prstGeom>
          <a:noFill/>
          <a:ln/>
        </p:spPr>
        <p:txBody>
          <a:bodyPr wrap="square" lIns="0" tIns="0" rIns="0" bIns="0" rtlCol="0" anchor="t"/>
          <a:lstStyle/>
          <a:p>
            <a:pPr marL="0" indent="0" algn="l">
              <a:lnSpc>
                <a:spcPts val="2850"/>
              </a:lnSpc>
              <a:buNone/>
            </a:pPr>
            <a:r>
              <a:rPr lang="en-US" sz="1750" dirty="0">
                <a:solidFill>
                  <a:srgbClr val="5B6E8C"/>
                </a:solidFill>
                <a:highlight>
                  <a:srgbClr val="F2F2F2"/>
                </a:highlight>
                <a:latin typeface="Consolas" pitchFamily="34" charset="0"/>
                <a:ea typeface="Consolas" pitchFamily="34" charset="-122"/>
                <a:cs typeface="Consolas" pitchFamily="34" charset="-120"/>
              </a:rPr>
              <a:t>df['Total_Liabilities'] = df['Bank Loans'] + df['Credit Card Balance'] + df['Business Lending']df['Debt_Asset_Ratio'] = df['Total_Liabilities'] / df['Total_Assets']df['Churn_Risk_Flag'] = np.where(df['Debt_Asset_Ratio'] &gt; 1.0, 'High Risk', 'Low Risk')</a:t>
            </a:r>
            <a:endParaRPr lang="en-US" sz="1750" dirty="0"/>
          </a:p>
        </p:txBody>
      </p:sp>
      <p:sp>
        <p:nvSpPr>
          <p:cNvPr id="5" name="Text 3"/>
          <p:cNvSpPr/>
          <p:nvPr/>
        </p:nvSpPr>
        <p:spPr>
          <a:xfrm>
            <a:off x="793790" y="3955971"/>
            <a:ext cx="5804892" cy="425291"/>
          </a:xfrm>
          <a:prstGeom prst="rect">
            <a:avLst/>
          </a:prstGeom>
          <a:noFill/>
          <a:ln/>
        </p:spPr>
        <p:txBody>
          <a:bodyPr wrap="none" lIns="0" tIns="0" rIns="0" bIns="0" rtlCol="0" anchor="t"/>
          <a:lstStyle/>
          <a:p>
            <a:pPr marL="0" indent="0" algn="l">
              <a:lnSpc>
                <a:spcPts val="3300"/>
              </a:lnSpc>
              <a:buNone/>
            </a:pPr>
            <a:r>
              <a:rPr lang="en-US" sz="2650" dirty="0">
                <a:solidFill>
                  <a:srgbClr val="5B6E8C"/>
                </a:solidFill>
                <a:latin typeface="Alexandria Medium" pitchFamily="34" charset="0"/>
                <a:ea typeface="Alexandria Medium" pitchFamily="34" charset="-122"/>
                <a:cs typeface="Alexandria Medium" pitchFamily="34" charset="-120"/>
              </a:rPr>
              <a:t>DAX Measure for High-Risk Count:</a:t>
            </a:r>
            <a:endParaRPr lang="en-US" sz="2650" dirty="0"/>
          </a:p>
        </p:txBody>
      </p:sp>
      <p:sp>
        <p:nvSpPr>
          <p:cNvPr id="6" name="Text 4"/>
          <p:cNvSpPr/>
          <p:nvPr/>
        </p:nvSpPr>
        <p:spPr>
          <a:xfrm>
            <a:off x="793790" y="4721423"/>
            <a:ext cx="13042821" cy="362903"/>
          </a:xfrm>
          <a:prstGeom prst="rect">
            <a:avLst/>
          </a:prstGeom>
          <a:noFill/>
          <a:ln/>
        </p:spPr>
        <p:txBody>
          <a:bodyPr wrap="none" lIns="0" tIns="0" rIns="0" bIns="0" rtlCol="0" anchor="t"/>
          <a:lstStyle/>
          <a:p>
            <a:pPr marL="0" indent="0" algn="l">
              <a:lnSpc>
                <a:spcPts val="2850"/>
              </a:lnSpc>
              <a:buNone/>
            </a:pPr>
            <a:r>
              <a:rPr lang="en-US" sz="1750" b="1" dirty="0">
                <a:solidFill>
                  <a:srgbClr val="5B6E8C"/>
                </a:solidFill>
                <a:latin typeface="Manrope" pitchFamily="34" charset="0"/>
                <a:ea typeface="Manrope" pitchFamily="34" charset="-122"/>
                <a:cs typeface="Manrope" pitchFamily="34" charset="-120"/>
              </a:rPr>
              <a:t>Code snippet</a:t>
            </a:r>
            <a:endParaRPr lang="en-US" sz="1750" dirty="0"/>
          </a:p>
        </p:txBody>
      </p:sp>
      <p:sp>
        <p:nvSpPr>
          <p:cNvPr id="7" name="Shape 5"/>
          <p:cNvSpPr/>
          <p:nvPr/>
        </p:nvSpPr>
        <p:spPr>
          <a:xfrm>
            <a:off x="793790" y="5339477"/>
            <a:ext cx="13042821" cy="702945"/>
          </a:xfrm>
          <a:prstGeom prst="roundRect">
            <a:avLst>
              <a:gd name="adj" fmla="val 48402"/>
            </a:avLst>
          </a:prstGeom>
          <a:solidFill>
            <a:srgbClr val="F2F2F2"/>
          </a:solidFill>
          <a:ln/>
        </p:spPr>
      </p:sp>
      <p:sp>
        <p:nvSpPr>
          <p:cNvPr id="8" name="Shape 6"/>
          <p:cNvSpPr/>
          <p:nvPr/>
        </p:nvSpPr>
        <p:spPr>
          <a:xfrm>
            <a:off x="782479" y="5339477"/>
            <a:ext cx="13065443" cy="702945"/>
          </a:xfrm>
          <a:prstGeom prst="roundRect">
            <a:avLst>
              <a:gd name="adj" fmla="val 4840"/>
            </a:avLst>
          </a:prstGeom>
          <a:solidFill>
            <a:srgbClr val="F2F2F2"/>
          </a:solidFill>
          <a:ln/>
        </p:spPr>
      </p:sp>
      <p:sp>
        <p:nvSpPr>
          <p:cNvPr id="9" name="Text 7"/>
          <p:cNvSpPr/>
          <p:nvPr/>
        </p:nvSpPr>
        <p:spPr>
          <a:xfrm>
            <a:off x="1009293" y="5509498"/>
            <a:ext cx="12611814" cy="362903"/>
          </a:xfrm>
          <a:prstGeom prst="rect">
            <a:avLst/>
          </a:prstGeom>
          <a:noFill/>
          <a:ln/>
        </p:spPr>
        <p:txBody>
          <a:bodyPr wrap="none" lIns="0" tIns="0" rIns="0" bIns="0" rtlCol="0" anchor="t"/>
          <a:lstStyle/>
          <a:p>
            <a:pPr marL="0" indent="0" algn="l">
              <a:lnSpc>
                <a:spcPts val="2850"/>
              </a:lnSpc>
              <a:buNone/>
            </a:pPr>
            <a:r>
              <a:rPr lang="en-US" sz="1750" dirty="0">
                <a:solidFill>
                  <a:srgbClr val="5B6E8C"/>
                </a:solidFill>
                <a:highlight>
                  <a:srgbClr val="F2F2F2"/>
                </a:highlight>
                <a:latin typeface="Consolas" pitchFamily="34" charset="0"/>
                <a:ea typeface="Consolas" pitchFamily="34" charset="-122"/>
                <a:cs typeface="Consolas" pitchFamily="34" charset="-120"/>
              </a:rPr>
              <a:t>High Risk Customers = CALCULATE(COUNT(DA_Banking[Client ID]), DA_Banking[Churn_Risk_Flag] = "High Risk”</a:t>
            </a:r>
            <a:endParaRPr lang="en-US" sz="1750" dirty="0"/>
          </a:p>
        </p:txBody>
      </p:sp>
    </p:spTree>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TM04033925[[fn=Droplet]]</Template>
  <TotalTime>9</TotalTime>
  <Words>972</Words>
  <Application>Microsoft Office PowerPoint</Application>
  <PresentationFormat>Custom</PresentationFormat>
  <Paragraphs>74</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Alexandria Medium</vt:lpstr>
      <vt:lpstr>Consolas</vt:lpstr>
      <vt:lpstr>Arial</vt:lpstr>
      <vt:lpstr>Manrope</vt:lpstr>
      <vt:lpstr>Tw Cen MT</vt:lpstr>
      <vt:lpstr>Droplet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Deepak Arumugam Ravindran</cp:lastModifiedBy>
  <cp:revision>2</cp:revision>
  <dcterms:created xsi:type="dcterms:W3CDTF">2025-11-24T10:12:06Z</dcterms:created>
  <dcterms:modified xsi:type="dcterms:W3CDTF">2025-11-24T10:22:15Z</dcterms:modified>
</cp:coreProperties>
</file>